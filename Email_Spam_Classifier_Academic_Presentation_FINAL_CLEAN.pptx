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E89524-7654-48A4-AB86-63F2D27B4AF3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7422C5-18B5-4AF8-9263-7F90D4FAE7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44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Introduce the project as an academic predictive analytics project. Mention that the system classifies email messages into spam or ham using NLP preprocessing, TF-IDF feature extraction, and supervised machine learning.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422C5-18B5-4AF8-9263-7F90D4FAE7F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030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the practical need first: spam is also a security issue. Then connect that need to the project workflow.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422C5-18B5-4AF8-9263-7F90D4FAE7F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48972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problem is a binary classification task. Objectives include preprocessing, evaluation, model selection, and deployment.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422C5-18B5-4AF8-9263-7F90D4FAE7F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811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dataset is text-based and has only two useful columns in this notebook: label and message. There are no null values and 403 duplicates are removed.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422C5-18B5-4AF8-9263-7F90D4FAE7F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876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Describe each tool by responsibility: NLTK cleans text, Scikit-learn trains and evaluates models, and Streamlit deploys the application.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422C5-18B5-4AF8-9263-7F90D4FAE7F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276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Walk left to right. This is the actual sequence used in the notebook.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422C5-18B5-4AF8-9263-7F90D4FAE7F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322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class imbalance and why precision, recall, F1-score, and confusion matrix are important.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422C5-18B5-4AF8-9263-7F90D4FAE7F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7403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visualization supports understanding of text patterns. The classifier itself uses TF-IDF features.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422C5-18B5-4AF8-9263-7F90D4FAE7F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7180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Stemming changes words into root forms. This prepares raw text for vectorization.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422C5-18B5-4AF8-9263-7F90D4FAE7F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2827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TF-IDF gives stronger weight to terms that are informative for a message and less common across all messages.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422C5-18B5-4AF8-9263-7F90D4FAE7F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8319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same train-test split and TF-IDF features are used for all models.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422C5-18B5-4AF8-9263-7F90D4FAE7F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91163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SVM has the highest test accuracy at 98.26 percent.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422C5-18B5-4AF8-9263-7F90D4FAE7F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922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SVM has the strongest spam F1-score among the compared models.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422C5-18B5-4AF8-9263-7F90D4FAE7F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0089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SVM correctly classified 887 ham and 129 spam emails, with only 18 total errors.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422C5-18B5-4AF8-9263-7F90D4FAE7F8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5424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notebook saves both the vectorizer and models so new input can be transformed in the same way before prediction.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422C5-18B5-4AF8-9263-7F90D4FAE7F8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5923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Streamlit interface makes the classifier usable for real-time prediction.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422C5-18B5-4AF8-9263-7F90D4FAE7F8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5335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One screenshot shows spam and the other shows legitimate email prediction.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422C5-18B5-4AF8-9263-7F90D4FAE7F8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99810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Future work should focus on larger datasets, monitoring, and retraining.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422C5-18B5-4AF8-9263-7F90D4FAE7F8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23492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Summarize the story from problem to deployment.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422C5-18B5-4AF8-9263-7F90D4FAE7F8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3710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 faculty and invite questions.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422C5-18B5-4AF8-9263-7F90D4FAE7F8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2540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BD9CA-FC67-56C8-BD58-CB207B4C9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AF3417-C2CA-8D7E-479F-1234768407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D5987-578B-1B6E-B10C-EBDC78C5F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DFFB-8521-4310-AE10-44CEEA9BDB2E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F459D-0204-E482-5E55-54790FD89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EFD52-FD80-6361-8D6A-627852A50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7065-5ED8-4F51-ABD9-C2E3E5A9A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107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CDF6-A257-DA44-A0AA-3B1FF0783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3683E-B875-C6E3-D2D5-8EA02FC39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4C4B1-3384-5D60-39FD-B15956D70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DFFB-8521-4310-AE10-44CEEA9BDB2E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3A789-26F2-003C-FC41-AD99125A7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B1BE5-0B47-B95D-4C97-0285BF680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7065-5ED8-4F51-ABD9-C2E3E5A9A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380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BBE47-830E-577B-DE96-1C62AB0EF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ED6D0-D8B2-F151-23FC-8738B7D37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0B0C3-A22F-7DF1-0108-1422534FC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DFFB-8521-4310-AE10-44CEEA9BDB2E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BF4BC-7E45-D339-5861-8CDF8BCE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A6140-D66D-C14D-5A9A-C7A458564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7065-5ED8-4F51-ABD9-C2E3E5A9A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679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43ED7-4B10-C36C-A6A2-6C227E523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EF2BC-A705-A7AA-C0F5-8083F527F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7B71D9-3402-8E6C-4394-EC9A8E256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C301E0-41AB-E125-706A-9F934FA58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DFFB-8521-4310-AE10-44CEEA9BDB2E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F0F1B-16F0-7296-B8AE-B77E9A59C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4775F-920E-6CE7-4017-A6608AAA6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7065-5ED8-4F51-ABD9-C2E3E5A9A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999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1A64D-753A-AF86-2907-54F3CD09B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CE177-D19C-CEE9-0B34-B493307AA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4FCE6-9793-2E58-4206-3A06B620A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C66C26-E081-2BA6-063A-D8D3D8D43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F39D3D-6E75-1C01-0E31-00C8F1C87D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968FCF-E39B-5B1C-1E7D-6FF5860F6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DFFB-8521-4310-AE10-44CEEA9BDB2E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8D9E04-B028-E5FE-2E6A-6187FF69D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C38DF6-F61C-C182-5625-5437C7911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7065-5ED8-4F51-ABD9-C2E3E5A9A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210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AEB9C-0530-E842-D472-0F4D1C5CA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61579D-F7E3-B61E-51E7-BBF15B42D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DFFB-8521-4310-AE10-44CEEA9BDB2E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8D24C-5760-F3F3-BECC-5D0F2ED53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79C84D-016D-6822-65C1-3D3349277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7065-5ED8-4F51-ABD9-C2E3E5A9A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434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1F519D-7C67-CF95-0364-0769B035D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DFFB-8521-4310-AE10-44CEEA9BDB2E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85E317-C203-0659-71B0-AB9E8A660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AA4CC-A910-529C-7493-F89933DB4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7065-5ED8-4F51-ABD9-C2E3E5A9A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634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AC757-20CD-46AE-637E-259A8495B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8BF25-49AF-B2CF-DA3B-1D2E7925A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F66F7E-6DDC-05C7-ED80-DC328A195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7E600-4B8B-DC1A-4C32-381C12B6E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DFFB-8521-4310-AE10-44CEEA9BDB2E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D4AFA-683E-7520-851B-106D68A81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F4034-C2E4-491E-4074-8F351306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7065-5ED8-4F51-ABD9-C2E3E5A9A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37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3DEF5-C0D5-0A2E-686B-67A93D09C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C0EA67-E8BD-D4A0-F749-293B40D2EA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9B807C-6C9C-01E1-618F-F5BEFD9A8E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02F9E-C862-0DBC-9A17-701E216C4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DFFB-8521-4310-AE10-44CEEA9BDB2E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BE5A9-49C2-8A2F-F211-9E16885EF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75995-B55F-8527-DF82-40A214E88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7065-5ED8-4F51-ABD9-C2E3E5A9A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255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F26A4-6016-F0B5-E837-6FCA3FD21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32E04E-1A1B-4611-41E4-9DA57CD82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44A98-6754-83B5-6D87-BEB7F048D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DFFB-8521-4310-AE10-44CEEA9BDB2E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76C84-AD03-667A-DAA8-81C66B421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3B8A2-5768-8491-9588-2DBCC963F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7065-5ED8-4F51-ABD9-C2E3E5A9A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786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5C1FA3-61E0-F6CA-CC89-17CA7B0F70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0B5398-30AF-B236-33D3-C9744C74C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F4D17-7189-7073-ADEA-9278CC66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ADFFB-8521-4310-AE10-44CEEA9BDB2E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3C855-64CB-38C3-9D7E-F25C4A272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9DEF8-2ADF-73AE-C711-C4B6ED3A9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47065-5ED8-4F51-ABD9-C2E3E5A9A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5299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371BB9-CB10-911F-EF46-94819F7A7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2B366-8AC4-8DF8-BEC8-14BF8F27D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8DDD9-C895-E531-8711-510223BF87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9ADFFB-8521-4310-AE10-44CEEA9BDB2E}" type="datetimeFigureOut">
              <a:rPr lang="en-IN" smtClean="0"/>
              <a:t>15-05-2026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472EF-4A6B-7DC5-CF82-19D9D79724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AF0C6-F4EF-73F5-3D4D-B05E7C552B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347065-5ED8-4F51-ABD9-C2E3E5A9A9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67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mail-spam-classification-erd32gzrsof4qto2zxkfz8.streamlit.app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67C327-852F-0C72-3401-C544EF94A29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33A689-808E-6970-AEE1-8A581D3EE79A}"/>
              </a:ext>
            </a:extLst>
          </p:cNvPr>
          <p:cNvSpPr/>
          <p:nvPr/>
        </p:nvSpPr>
        <p:spPr>
          <a:xfrm>
            <a:off x="0" y="3619500"/>
            <a:ext cx="9144000" cy="1524000"/>
          </a:xfrm>
          <a:prstGeom prst="rect">
            <a:avLst/>
          </a:prstGeom>
          <a:solidFill>
            <a:srgbClr val="F4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314AC7-DC7A-96C6-8064-B1288558DCA1}"/>
              </a:ext>
            </a:extLst>
          </p:cNvPr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091336-7B35-7685-D0E8-4CDFC4A01E18}"/>
              </a:ext>
            </a:extLst>
          </p:cNvPr>
          <p:cNvSpPr txBox="1"/>
          <p:nvPr/>
        </p:nvSpPr>
        <p:spPr>
          <a:xfrm>
            <a:off x="590550" y="857250"/>
            <a:ext cx="6381750" cy="55912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3300" b="1">
                <a:solidFill>
                  <a:srgbClr val="FFFFFF"/>
                </a:solidFill>
                <a:latin typeface="Aptos" panose="020B0004020202020204" pitchFamily="34" charset="0"/>
              </a:rPr>
              <a:t>Email Spam Classification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512B5E-CF0A-E3E7-4346-5C1441E248D3}"/>
              </a:ext>
            </a:extLst>
          </p:cNvPr>
          <p:cNvSpPr txBox="1"/>
          <p:nvPr/>
        </p:nvSpPr>
        <p:spPr>
          <a:xfrm>
            <a:off x="628650" y="1466850"/>
            <a:ext cx="5334000" cy="3436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900">
                <a:solidFill>
                  <a:srgbClr val="CAE8FF"/>
                </a:solidFill>
                <a:latin typeface="Aptos" panose="020B0004020202020204" pitchFamily="34" charset="0"/>
              </a:rPr>
              <a:t>Using NLP and Machine Learning</a:t>
            </a:r>
            <a:endParaRPr lang="en-IN" sz="1900">
              <a:solidFill>
                <a:srgbClr val="CAE8FF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4B147A-6642-FE34-02A4-4690463BBCF2}"/>
              </a:ext>
            </a:extLst>
          </p:cNvPr>
          <p:cNvSpPr txBox="1"/>
          <p:nvPr/>
        </p:nvSpPr>
        <p:spPr>
          <a:xfrm>
            <a:off x="628650" y="1981200"/>
            <a:ext cx="581025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400">
                <a:solidFill>
                  <a:srgbClr val="E7EEF8"/>
                </a:solidFill>
                <a:latin typeface="Aptos" panose="020B0004020202020204" pitchFamily="34" charset="0"/>
              </a:rPr>
              <a:t>Predictive Analytics Group Project | Academic Year 2025-26</a:t>
            </a:r>
            <a:endParaRPr lang="en-IN" sz="1400">
              <a:solidFill>
                <a:srgbClr val="E7EEF8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662C42B-D8F8-6F57-80EB-22AAFA277C75}"/>
              </a:ext>
            </a:extLst>
          </p:cNvPr>
          <p:cNvSpPr/>
          <p:nvPr/>
        </p:nvSpPr>
        <p:spPr>
          <a:xfrm>
            <a:off x="6096000" y="857250"/>
            <a:ext cx="2190750" cy="2000250"/>
          </a:xfrm>
          <a:prstGeom prst="roundRect">
            <a:avLst/>
          </a:prstGeom>
          <a:solidFill>
            <a:srgbClr val="EBF7FF"/>
          </a:solidFill>
          <a:ln w="12700">
            <a:solidFill>
              <a:srgbClr val="0096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F4F0F2-7E80-127B-10E5-70F21B21F411}"/>
              </a:ext>
            </a:extLst>
          </p:cNvPr>
          <p:cNvSpPr txBox="1"/>
          <p:nvPr/>
        </p:nvSpPr>
        <p:spPr>
          <a:xfrm>
            <a:off x="6334125" y="1143000"/>
            <a:ext cx="171450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1600" b="1">
                <a:solidFill>
                  <a:srgbClr val="10264A"/>
                </a:solidFill>
                <a:latin typeface="Aptos" panose="020B0004020202020204" pitchFamily="34" charset="0"/>
              </a:rPr>
              <a:t>Team Members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A94910-0A85-98ED-7AC7-C633105CBDD4}"/>
              </a:ext>
            </a:extLst>
          </p:cNvPr>
          <p:cNvSpPr txBox="1"/>
          <p:nvPr/>
        </p:nvSpPr>
        <p:spPr>
          <a:xfrm>
            <a:off x="6362700" y="1504950"/>
            <a:ext cx="1666875" cy="85664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300">
                <a:solidFill>
                  <a:srgbClr val="182030"/>
                </a:solidFill>
                <a:latin typeface="Aptos" panose="020B0004020202020204" pitchFamily="34" charset="0"/>
              </a:rPr>
              <a:t>• Fidal Govind</a:t>
            </a:r>
          </a:p>
          <a:p>
            <a:pPr>
              <a:spcAft>
                <a:spcPts val="800"/>
              </a:spcAft>
            </a:pPr>
            <a:r>
              <a:rPr lang="en-IN" sz="1300">
                <a:solidFill>
                  <a:srgbClr val="182030"/>
                </a:solidFill>
                <a:latin typeface="Aptos" panose="020B0004020202020204" pitchFamily="34" charset="0"/>
              </a:rPr>
              <a:t>• Arjun S</a:t>
            </a:r>
          </a:p>
          <a:p>
            <a:pPr>
              <a:spcAft>
                <a:spcPts val="800"/>
              </a:spcAft>
            </a:pPr>
            <a:r>
              <a:rPr lang="en-IN" sz="1300">
                <a:solidFill>
                  <a:srgbClr val="182030"/>
                </a:solidFill>
                <a:latin typeface="Aptos" panose="020B0004020202020204" pitchFamily="34" charset="0"/>
              </a:rPr>
              <a:t>• ANU GOPAL V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D6ABF2-471D-AF7D-F5DB-96C9843BB881}"/>
              </a:ext>
            </a:extLst>
          </p:cNvPr>
          <p:cNvSpPr txBox="1"/>
          <p:nvPr/>
        </p:nvSpPr>
        <p:spPr>
          <a:xfrm>
            <a:off x="628650" y="3924300"/>
            <a:ext cx="4953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100" dirty="0">
                <a:solidFill>
                  <a:srgbClr val="65748B"/>
                </a:solidFill>
                <a:latin typeface="Aptos" panose="020B0004020202020204" pitchFamily="34" charset="0"/>
              </a:rPr>
              <a:t>Institution: Digital university </a:t>
            </a:r>
            <a:r>
              <a:rPr lang="en-US" sz="1100" dirty="0" err="1">
                <a:solidFill>
                  <a:srgbClr val="65748B"/>
                </a:solidFill>
                <a:latin typeface="Aptos" panose="020B0004020202020204" pitchFamily="34" charset="0"/>
              </a:rPr>
              <a:t>kerala</a:t>
            </a:r>
            <a:r>
              <a:rPr lang="en-US" sz="1100" dirty="0">
                <a:solidFill>
                  <a:srgbClr val="65748B"/>
                </a:solidFill>
                <a:latin typeface="Aptos" panose="020B0004020202020204" pitchFamily="34" charset="0"/>
              </a:rPr>
              <a:t> </a:t>
            </a:r>
            <a:endParaRPr lang="en-IN" sz="1100" dirty="0">
              <a:solidFill>
                <a:srgbClr val="65748B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E0B4CA-9EF8-CCE6-E607-F4008A4329EF}"/>
              </a:ext>
            </a:extLst>
          </p:cNvPr>
          <p:cNvSpPr txBox="1"/>
          <p:nvPr/>
        </p:nvSpPr>
        <p:spPr>
          <a:xfrm>
            <a:off x="8334375" y="4810125"/>
            <a:ext cx="523875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800">
                <a:solidFill>
                  <a:srgbClr val="65748B"/>
                </a:solidFill>
                <a:latin typeface="Aptos" panose="020B0004020202020204" pitchFamily="34" charset="0"/>
              </a:rPr>
              <a:t>1 / 20</a:t>
            </a:r>
          </a:p>
        </p:txBody>
      </p:sp>
    </p:spTree>
    <p:extLst>
      <p:ext uri="{BB962C8B-B14F-4D97-AF65-F5344CB8AC3E}">
        <p14:creationId xmlns:p14="http://schemas.microsoft.com/office/powerpoint/2010/main" val="1048897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3A348C-D600-F7EF-C0BF-763A70B12DCD}"/>
              </a:ext>
            </a:extLst>
          </p:cNvPr>
          <p:cNvSpPr/>
          <p:nvPr/>
        </p:nvSpPr>
        <p:spPr>
          <a:xfrm>
            <a:off x="0" y="0"/>
            <a:ext cx="9144000" cy="552450"/>
          </a:xfrm>
          <a:prstGeom prst="rect">
            <a:avLst/>
          </a:prstGeom>
          <a:solidFill>
            <a:srgbClr val="102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1736E0-66B7-D20C-5520-5017028E306D}"/>
              </a:ext>
            </a:extLst>
          </p:cNvPr>
          <p:cNvSpPr txBox="1"/>
          <p:nvPr/>
        </p:nvSpPr>
        <p:spPr>
          <a:xfrm>
            <a:off x="323850" y="114300"/>
            <a:ext cx="619125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000" b="1">
                <a:solidFill>
                  <a:srgbClr val="FFFFFF"/>
                </a:solidFill>
                <a:latin typeface="Aptos" panose="020B0004020202020204" pitchFamily="34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14BABF-5A26-50C5-2C72-69CAFE3E6C76}"/>
              </a:ext>
            </a:extLst>
          </p:cNvPr>
          <p:cNvSpPr txBox="1"/>
          <p:nvPr/>
        </p:nvSpPr>
        <p:spPr>
          <a:xfrm>
            <a:off x="6858000" y="142875"/>
            <a:ext cx="200025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900">
                <a:solidFill>
                  <a:srgbClr val="CCE0F7"/>
                </a:solidFill>
                <a:latin typeface="Aptos" panose="020B0004020202020204" pitchFamily="34" charset="0"/>
              </a:rPr>
              <a:t>Project Context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C81DA9-9F8D-8420-E148-A74B98C2436D}"/>
              </a:ext>
            </a:extLst>
          </p:cNvPr>
          <p:cNvSpPr/>
          <p:nvPr/>
        </p:nvSpPr>
        <p:spPr>
          <a:xfrm>
            <a:off x="0" y="552450"/>
            <a:ext cx="9144000" cy="381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0F81177-9A51-72C3-9126-F2F8DEED19B0}"/>
              </a:ext>
            </a:extLst>
          </p:cNvPr>
          <p:cNvSpPr/>
          <p:nvPr/>
        </p:nvSpPr>
        <p:spPr>
          <a:xfrm>
            <a:off x="457200" y="876300"/>
            <a:ext cx="1714500" cy="781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FAAB65-E559-B739-EF31-9361E3268CA6}"/>
              </a:ext>
            </a:extLst>
          </p:cNvPr>
          <p:cNvSpPr/>
          <p:nvPr/>
        </p:nvSpPr>
        <p:spPr>
          <a:xfrm>
            <a:off x="457200" y="876300"/>
            <a:ext cx="66675" cy="78105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28E5CF-C6F4-34CE-A2F3-278A4BBFA1FD}"/>
              </a:ext>
            </a:extLst>
          </p:cNvPr>
          <p:cNvSpPr txBox="1"/>
          <p:nvPr/>
        </p:nvSpPr>
        <p:spPr>
          <a:xfrm>
            <a:off x="628650" y="981075"/>
            <a:ext cx="14478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200" b="1">
                <a:solidFill>
                  <a:srgbClr val="009688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EF618C-8431-D1AF-E11C-3F5B09F184A6}"/>
              </a:ext>
            </a:extLst>
          </p:cNvPr>
          <p:cNvSpPr txBox="1"/>
          <p:nvPr/>
        </p:nvSpPr>
        <p:spPr>
          <a:xfrm>
            <a:off x="628650" y="1343025"/>
            <a:ext cx="144780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65748B"/>
                </a:solidFill>
                <a:latin typeface="Aptos" panose="020B0004020202020204" pitchFamily="34" charset="0"/>
              </a:rPr>
              <a:t>Binary classes: ham and spam</a:t>
            </a:r>
            <a:endParaRPr lang="en-IN" sz="1000">
              <a:solidFill>
                <a:srgbClr val="65748B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74504E-6C21-570A-B0D3-39E59CBCE4F4}"/>
              </a:ext>
            </a:extLst>
          </p:cNvPr>
          <p:cNvSpPr/>
          <p:nvPr/>
        </p:nvSpPr>
        <p:spPr>
          <a:xfrm>
            <a:off x="2362200" y="876300"/>
            <a:ext cx="1714500" cy="781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70BBFC-5396-1F2D-286C-191909AF5DC6}"/>
              </a:ext>
            </a:extLst>
          </p:cNvPr>
          <p:cNvSpPr/>
          <p:nvPr/>
        </p:nvSpPr>
        <p:spPr>
          <a:xfrm>
            <a:off x="2362200" y="876300"/>
            <a:ext cx="66675" cy="781050"/>
          </a:xfrm>
          <a:prstGeom prst="rect">
            <a:avLst/>
          </a:prstGeom>
          <a:solidFill>
            <a:srgbClr val="1F60A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B26F54-D99B-45A0-2085-B8A4F4241C01}"/>
              </a:ext>
            </a:extLst>
          </p:cNvPr>
          <p:cNvSpPr txBox="1"/>
          <p:nvPr/>
        </p:nvSpPr>
        <p:spPr>
          <a:xfrm>
            <a:off x="2533650" y="981075"/>
            <a:ext cx="14478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200" b="1">
                <a:solidFill>
                  <a:srgbClr val="1F60A2"/>
                </a:solidFill>
                <a:latin typeface="Aptos" panose="020B0004020202020204" pitchFamily="34" charset="0"/>
              </a:rPr>
              <a:t>5,572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758ADB-3734-3486-DA40-9302A22FAA5C}"/>
              </a:ext>
            </a:extLst>
          </p:cNvPr>
          <p:cNvSpPr txBox="1"/>
          <p:nvPr/>
        </p:nvSpPr>
        <p:spPr>
          <a:xfrm>
            <a:off x="2533650" y="1343025"/>
            <a:ext cx="144780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000">
                <a:solidFill>
                  <a:srgbClr val="65748B"/>
                </a:solidFill>
                <a:latin typeface="Aptos" panose="020B0004020202020204" pitchFamily="34" charset="0"/>
              </a:rPr>
              <a:t>Raw email records in notebook</a:t>
            </a:r>
            <a:endParaRPr lang="en-IN" sz="1000">
              <a:solidFill>
                <a:srgbClr val="65748B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CEC80C3-0973-668A-79B0-8DEAB8C7C942}"/>
              </a:ext>
            </a:extLst>
          </p:cNvPr>
          <p:cNvSpPr/>
          <p:nvPr/>
        </p:nvSpPr>
        <p:spPr>
          <a:xfrm>
            <a:off x="4267200" y="876300"/>
            <a:ext cx="1714500" cy="781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7F37F2-299C-ED2F-7D51-F24D11CBA24B}"/>
              </a:ext>
            </a:extLst>
          </p:cNvPr>
          <p:cNvSpPr/>
          <p:nvPr/>
        </p:nvSpPr>
        <p:spPr>
          <a:xfrm>
            <a:off x="4267200" y="876300"/>
            <a:ext cx="66675" cy="781050"/>
          </a:xfrm>
          <a:prstGeom prst="rect">
            <a:avLst/>
          </a:prstGeom>
          <a:solidFill>
            <a:srgbClr val="F5A6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93AFC7-5A03-AA83-1F0F-924B2EE1ACFD}"/>
              </a:ext>
            </a:extLst>
          </p:cNvPr>
          <p:cNvSpPr txBox="1"/>
          <p:nvPr/>
        </p:nvSpPr>
        <p:spPr>
          <a:xfrm>
            <a:off x="4438650" y="981075"/>
            <a:ext cx="14478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200" b="1">
                <a:solidFill>
                  <a:srgbClr val="F5A623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8EE6D6-0110-1172-0903-78E657722FF0}"/>
              </a:ext>
            </a:extLst>
          </p:cNvPr>
          <p:cNvSpPr txBox="1"/>
          <p:nvPr/>
        </p:nvSpPr>
        <p:spPr>
          <a:xfrm>
            <a:off x="4438650" y="1343025"/>
            <a:ext cx="14478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000">
                <a:solidFill>
                  <a:srgbClr val="65748B"/>
                </a:solidFill>
                <a:latin typeface="Aptos" panose="020B0004020202020204" pitchFamily="34" charset="0"/>
              </a:rPr>
              <a:t>Models compared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CA85BD6-5D79-4483-CF3D-B0267092C388}"/>
              </a:ext>
            </a:extLst>
          </p:cNvPr>
          <p:cNvSpPr/>
          <p:nvPr/>
        </p:nvSpPr>
        <p:spPr>
          <a:xfrm>
            <a:off x="6172200" y="876300"/>
            <a:ext cx="2000250" cy="781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3C4B5E-B16E-5F77-9670-7795DBF82473}"/>
              </a:ext>
            </a:extLst>
          </p:cNvPr>
          <p:cNvSpPr/>
          <p:nvPr/>
        </p:nvSpPr>
        <p:spPr>
          <a:xfrm>
            <a:off x="6172200" y="876300"/>
            <a:ext cx="66675" cy="781050"/>
          </a:xfrm>
          <a:prstGeom prst="rect">
            <a:avLst/>
          </a:prstGeom>
          <a:solidFill>
            <a:srgbClr val="E55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024B93-E58B-AC51-3366-D0450858DBB7}"/>
              </a:ext>
            </a:extLst>
          </p:cNvPr>
          <p:cNvSpPr txBox="1"/>
          <p:nvPr/>
        </p:nvSpPr>
        <p:spPr>
          <a:xfrm>
            <a:off x="6343650" y="981075"/>
            <a:ext cx="173355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200" b="1">
                <a:solidFill>
                  <a:srgbClr val="E55750"/>
                </a:solidFill>
                <a:latin typeface="Aptos" panose="020B0004020202020204" pitchFamily="34" charset="0"/>
              </a:rPr>
              <a:t>98.26%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86D63F-6A29-55C3-8912-75894AD92684}"/>
              </a:ext>
            </a:extLst>
          </p:cNvPr>
          <p:cNvSpPr txBox="1"/>
          <p:nvPr/>
        </p:nvSpPr>
        <p:spPr>
          <a:xfrm>
            <a:off x="6343650" y="1343025"/>
            <a:ext cx="173355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000">
                <a:solidFill>
                  <a:srgbClr val="65748B"/>
                </a:solidFill>
                <a:latin typeface="Aptos" panose="020B0004020202020204" pitchFamily="34" charset="0"/>
              </a:rPr>
              <a:t>Best model accuracy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09265B-5747-C713-25B0-9C529C75CC53}"/>
              </a:ext>
            </a:extLst>
          </p:cNvPr>
          <p:cNvSpPr txBox="1"/>
          <p:nvPr/>
        </p:nvSpPr>
        <p:spPr>
          <a:xfrm>
            <a:off x="590550" y="2095500"/>
            <a:ext cx="7667625" cy="191847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>
                <a:solidFill>
                  <a:srgbClr val="182030"/>
                </a:solidFill>
                <a:latin typeface="Aptos" panose="020B0004020202020204" pitchFamily="34" charset="0"/>
              </a:rPr>
              <a:t>• Spam email causes phishing risk, financial fraud, malware exposure, productivity loss, and bandwidth waste.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82030"/>
                </a:solidFill>
                <a:latin typeface="Aptos" panose="020B0004020202020204" pitchFamily="34" charset="0"/>
              </a:rPr>
              <a:t>• The project builds an automated filter that predicts whether an email is spam or legitimate ham.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82030"/>
                </a:solidFill>
                <a:latin typeface="Aptos" panose="020B0004020202020204" pitchFamily="34" charset="0"/>
              </a:rPr>
              <a:t>• The implementation follows a complete ML workflow from dataset loading to Streamlit deployment.</a:t>
            </a:r>
            <a:endParaRPr lang="en-IN">
              <a:solidFill>
                <a:srgbClr val="182030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DDF4399-3AD8-C9C2-05E5-3FDEFD9B230F}"/>
              </a:ext>
            </a:extLst>
          </p:cNvPr>
          <p:cNvSpPr/>
          <p:nvPr/>
        </p:nvSpPr>
        <p:spPr>
          <a:xfrm>
            <a:off x="590550" y="4000500"/>
            <a:ext cx="7667625" cy="609600"/>
          </a:xfrm>
          <a:prstGeom prst="roundRect">
            <a:avLst/>
          </a:prstGeom>
          <a:solidFill>
            <a:srgbClr val="EBF7FF"/>
          </a:solidFill>
          <a:ln w="12700">
            <a:solidFill>
              <a:srgbClr val="0096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534A5F-02CC-4A9F-30A0-F88C2BEC9E80}"/>
              </a:ext>
            </a:extLst>
          </p:cNvPr>
          <p:cNvSpPr txBox="1"/>
          <p:nvPr/>
        </p:nvSpPr>
        <p:spPr>
          <a:xfrm>
            <a:off x="819150" y="4124325"/>
            <a:ext cx="7200900" cy="5129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500">
                <a:solidFill>
                  <a:srgbClr val="10264A"/>
                </a:solidFill>
                <a:latin typeface="Aptos" panose="020B0004020202020204" pitchFamily="34" charset="0"/>
              </a:rPr>
              <a:t>Real-world relevance: reliable spam classification improves communication security and reduces manual filtering effort.</a:t>
            </a:r>
            <a:endParaRPr lang="en-IN" sz="1500">
              <a:solidFill>
                <a:srgbClr val="10264A"/>
              </a:solidFill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A55B31-2746-4931-EB53-68454F7E286C}"/>
              </a:ext>
            </a:extLst>
          </p:cNvPr>
          <p:cNvSpPr txBox="1"/>
          <p:nvPr/>
        </p:nvSpPr>
        <p:spPr>
          <a:xfrm>
            <a:off x="8334375" y="4810125"/>
            <a:ext cx="523875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800">
                <a:solidFill>
                  <a:srgbClr val="65748B"/>
                </a:solidFill>
                <a:latin typeface="Aptos" panose="020B0004020202020204" pitchFamily="34" charset="0"/>
              </a:rPr>
              <a:t>2 / 20</a:t>
            </a:r>
          </a:p>
        </p:txBody>
      </p:sp>
    </p:spTree>
    <p:extLst>
      <p:ext uri="{BB962C8B-B14F-4D97-AF65-F5344CB8AC3E}">
        <p14:creationId xmlns:p14="http://schemas.microsoft.com/office/powerpoint/2010/main" val="533031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D71AF5-E76C-47B0-E77A-EFB3EBE9EE2C}"/>
              </a:ext>
            </a:extLst>
          </p:cNvPr>
          <p:cNvSpPr/>
          <p:nvPr/>
        </p:nvSpPr>
        <p:spPr>
          <a:xfrm>
            <a:off x="0" y="0"/>
            <a:ext cx="9144000" cy="552450"/>
          </a:xfrm>
          <a:prstGeom prst="rect">
            <a:avLst/>
          </a:prstGeom>
          <a:solidFill>
            <a:srgbClr val="102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4066C5-91F8-4AD7-5E5C-A3D0B39E844F}"/>
              </a:ext>
            </a:extLst>
          </p:cNvPr>
          <p:cNvSpPr txBox="1"/>
          <p:nvPr/>
        </p:nvSpPr>
        <p:spPr>
          <a:xfrm>
            <a:off x="323850" y="114300"/>
            <a:ext cx="619125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000" b="1">
                <a:solidFill>
                  <a:srgbClr val="FFFFFF"/>
                </a:solidFill>
                <a:latin typeface="Aptos" panose="020B0004020202020204" pitchFamily="34" charset="0"/>
              </a:rPr>
              <a:t>Problem Statement &amp;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49CE59-7AB9-655A-8782-4B06050E34BF}"/>
              </a:ext>
            </a:extLst>
          </p:cNvPr>
          <p:cNvSpPr txBox="1"/>
          <p:nvPr/>
        </p:nvSpPr>
        <p:spPr>
          <a:xfrm>
            <a:off x="6858000" y="142875"/>
            <a:ext cx="200025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900">
                <a:solidFill>
                  <a:srgbClr val="CCE0F7"/>
                </a:solidFill>
                <a:latin typeface="Aptos" panose="020B0004020202020204" pitchFamily="34" charset="0"/>
              </a:rPr>
              <a:t>What the project solves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BA1B1B-BC1C-23DF-285C-BBF9A111829C}"/>
              </a:ext>
            </a:extLst>
          </p:cNvPr>
          <p:cNvSpPr/>
          <p:nvPr/>
        </p:nvSpPr>
        <p:spPr>
          <a:xfrm>
            <a:off x="0" y="552450"/>
            <a:ext cx="9144000" cy="381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AA487E-5DA3-4DE6-2DE7-46D16D19E5A5}"/>
              </a:ext>
            </a:extLst>
          </p:cNvPr>
          <p:cNvSpPr/>
          <p:nvPr/>
        </p:nvSpPr>
        <p:spPr>
          <a:xfrm>
            <a:off x="514350" y="904875"/>
            <a:ext cx="3762375" cy="30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5BFABD-A2AF-AB74-2C9C-85CB945D5181}"/>
              </a:ext>
            </a:extLst>
          </p:cNvPr>
          <p:cNvSpPr txBox="1"/>
          <p:nvPr/>
        </p:nvSpPr>
        <p:spPr>
          <a:xfrm>
            <a:off x="781050" y="1143000"/>
            <a:ext cx="2952750" cy="3436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900" b="1">
                <a:solidFill>
                  <a:srgbClr val="10264A"/>
                </a:solidFill>
                <a:latin typeface="Aptos" panose="020B0004020202020204" pitchFamily="34" charset="0"/>
              </a:rPr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48A6AA-D57D-CD2E-B07B-C56E4F93E438}"/>
              </a:ext>
            </a:extLst>
          </p:cNvPr>
          <p:cNvSpPr txBox="1"/>
          <p:nvPr/>
        </p:nvSpPr>
        <p:spPr>
          <a:xfrm>
            <a:off x="781050" y="1619250"/>
            <a:ext cx="3048000" cy="220573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500">
                <a:solidFill>
                  <a:srgbClr val="182030"/>
                </a:solidFill>
                <a:latin typeface="Aptos" panose="020B0004020202020204" pitchFamily="34" charset="0"/>
              </a:rPr>
              <a:t>• Classify email text automatically as spam or ham.</a:t>
            </a:r>
          </a:p>
          <a:p>
            <a:pPr>
              <a:spcAft>
                <a:spcPts val="800"/>
              </a:spcAft>
            </a:pPr>
            <a:r>
              <a:rPr lang="en-US" sz="1500">
                <a:solidFill>
                  <a:srgbClr val="182030"/>
                </a:solidFill>
                <a:latin typeface="Aptos" panose="020B0004020202020204" pitchFamily="34" charset="0"/>
              </a:rPr>
              <a:t>• Reduce false classification of legitimate and malicious messages.</a:t>
            </a:r>
          </a:p>
          <a:p>
            <a:pPr>
              <a:spcAft>
                <a:spcPts val="800"/>
              </a:spcAft>
            </a:pPr>
            <a:r>
              <a:rPr lang="en-US" sz="1500">
                <a:solidFill>
                  <a:srgbClr val="182030"/>
                </a:solidFill>
                <a:latin typeface="Aptos" panose="020B0004020202020204" pitchFamily="34" charset="0"/>
              </a:rPr>
              <a:t>• Use NLP to convert unstructured text into useful model features.</a:t>
            </a:r>
          </a:p>
          <a:p>
            <a:pPr>
              <a:spcAft>
                <a:spcPts val="800"/>
              </a:spcAft>
            </a:pPr>
            <a:r>
              <a:rPr lang="en-US" sz="1500">
                <a:solidFill>
                  <a:srgbClr val="182030"/>
                </a:solidFill>
                <a:latin typeface="Aptos" panose="020B0004020202020204" pitchFamily="34" charset="0"/>
              </a:rPr>
              <a:t>• Select the best-performing algorithm based on real metrics.</a:t>
            </a:r>
            <a:endParaRPr lang="en-IN" sz="1500">
              <a:solidFill>
                <a:srgbClr val="182030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3C93B91-B268-B741-5CDA-64F3E81BEDA2}"/>
              </a:ext>
            </a:extLst>
          </p:cNvPr>
          <p:cNvSpPr/>
          <p:nvPr/>
        </p:nvSpPr>
        <p:spPr>
          <a:xfrm>
            <a:off x="4781550" y="1047750"/>
            <a:ext cx="3762375" cy="30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7385E6-2D41-86D5-ABA0-CF6BFF2FFF5E}"/>
              </a:ext>
            </a:extLst>
          </p:cNvPr>
          <p:cNvSpPr txBox="1"/>
          <p:nvPr/>
        </p:nvSpPr>
        <p:spPr>
          <a:xfrm>
            <a:off x="5048250" y="1143000"/>
            <a:ext cx="2952750" cy="3436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900" b="1">
                <a:solidFill>
                  <a:srgbClr val="10264A"/>
                </a:solidFill>
                <a:latin typeface="Aptos" panose="020B0004020202020204" pitchFamily="34" charset="0"/>
              </a:rPr>
              <a:t>Expected Outcomes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1EA988-2CA8-7AF9-15F7-0FC200979D87}"/>
              </a:ext>
            </a:extLst>
          </p:cNvPr>
          <p:cNvSpPr txBox="1"/>
          <p:nvPr/>
        </p:nvSpPr>
        <p:spPr>
          <a:xfrm>
            <a:off x="5048250" y="1619250"/>
            <a:ext cx="3048000" cy="243656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500">
                <a:solidFill>
                  <a:srgbClr val="182030"/>
                </a:solidFill>
                <a:latin typeface="Aptos" panose="020B0004020202020204" pitchFamily="34" charset="0"/>
              </a:rPr>
              <a:t>• Cleaned and transformed email messages.</a:t>
            </a:r>
          </a:p>
          <a:p>
            <a:pPr>
              <a:spcAft>
                <a:spcPts val="800"/>
              </a:spcAft>
            </a:pPr>
            <a:r>
              <a:rPr lang="en-US" sz="1500">
                <a:solidFill>
                  <a:srgbClr val="182030"/>
                </a:solidFill>
                <a:latin typeface="Aptos" panose="020B0004020202020204" pitchFamily="34" charset="0"/>
              </a:rPr>
              <a:t>• TF-IDF numerical feature matrix for model training.</a:t>
            </a:r>
          </a:p>
          <a:p>
            <a:pPr>
              <a:spcAft>
                <a:spcPts val="800"/>
              </a:spcAft>
            </a:pPr>
            <a:r>
              <a:rPr lang="en-US" sz="1500">
                <a:solidFill>
                  <a:srgbClr val="182030"/>
                </a:solidFill>
                <a:latin typeface="Aptos" panose="020B0004020202020204" pitchFamily="34" charset="0"/>
              </a:rPr>
              <a:t>• Comparison of Naive Bayes, Logistic Regression, SVM, and Random Forest.</a:t>
            </a:r>
          </a:p>
          <a:p>
            <a:pPr>
              <a:spcAft>
                <a:spcPts val="800"/>
              </a:spcAft>
            </a:pPr>
            <a:r>
              <a:rPr lang="en-US" sz="1500">
                <a:solidFill>
                  <a:srgbClr val="182030"/>
                </a:solidFill>
                <a:latin typeface="Aptos" panose="020B0004020202020204" pitchFamily="34" charset="0"/>
              </a:rPr>
              <a:t>• Streamlit app for real-time spam prediction.</a:t>
            </a:r>
            <a:endParaRPr lang="en-IN" sz="1500">
              <a:solidFill>
                <a:srgbClr val="182030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507B0E-041F-C745-8C45-31B825D98F51}"/>
              </a:ext>
            </a:extLst>
          </p:cNvPr>
          <p:cNvSpPr txBox="1"/>
          <p:nvPr/>
        </p:nvSpPr>
        <p:spPr>
          <a:xfrm>
            <a:off x="8334375" y="4810125"/>
            <a:ext cx="523875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800">
                <a:solidFill>
                  <a:srgbClr val="65748B"/>
                </a:solidFill>
                <a:latin typeface="Aptos" panose="020B0004020202020204" pitchFamily="34" charset="0"/>
              </a:rPr>
              <a:t>3 / 20</a:t>
            </a:r>
          </a:p>
        </p:txBody>
      </p:sp>
    </p:spTree>
    <p:extLst>
      <p:ext uri="{BB962C8B-B14F-4D97-AF65-F5344CB8AC3E}">
        <p14:creationId xmlns:p14="http://schemas.microsoft.com/office/powerpoint/2010/main" val="148190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10E2A3-C6B7-F219-282E-F90861E624F4}"/>
              </a:ext>
            </a:extLst>
          </p:cNvPr>
          <p:cNvSpPr/>
          <p:nvPr/>
        </p:nvSpPr>
        <p:spPr>
          <a:xfrm>
            <a:off x="0" y="0"/>
            <a:ext cx="9144000" cy="552450"/>
          </a:xfrm>
          <a:prstGeom prst="rect">
            <a:avLst/>
          </a:prstGeom>
          <a:solidFill>
            <a:srgbClr val="102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ECB50D-39DC-E21A-C47D-7C5F70920F59}"/>
              </a:ext>
            </a:extLst>
          </p:cNvPr>
          <p:cNvSpPr txBox="1"/>
          <p:nvPr/>
        </p:nvSpPr>
        <p:spPr>
          <a:xfrm>
            <a:off x="323850" y="114300"/>
            <a:ext cx="619125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000" b="1">
                <a:solidFill>
                  <a:srgbClr val="FFFFFF"/>
                </a:solidFill>
                <a:latin typeface="Aptos" panose="020B0004020202020204" pitchFamily="34" charset="0"/>
              </a:rPr>
              <a:t>Dataset Information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FEC72D-4714-8793-B442-A34AAA54F47A}"/>
              </a:ext>
            </a:extLst>
          </p:cNvPr>
          <p:cNvSpPr txBox="1"/>
          <p:nvPr/>
        </p:nvSpPr>
        <p:spPr>
          <a:xfrm>
            <a:off x="6858000" y="142875"/>
            <a:ext cx="200025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900">
                <a:solidFill>
                  <a:srgbClr val="CCE0F7"/>
                </a:solidFill>
                <a:latin typeface="Aptos" panose="020B0004020202020204" pitchFamily="34" charset="0"/>
              </a:rPr>
              <a:t>SpamAssassin / spam.csv workflow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34A3C9-187C-1EDE-0393-C2D48ACE543E}"/>
              </a:ext>
            </a:extLst>
          </p:cNvPr>
          <p:cNvSpPr/>
          <p:nvPr/>
        </p:nvSpPr>
        <p:spPr>
          <a:xfrm>
            <a:off x="0" y="552450"/>
            <a:ext cx="9144000" cy="381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5C04F3D-C7B3-9605-3580-08BDBE000935}"/>
              </a:ext>
            </a:extLst>
          </p:cNvPr>
          <p:cNvSpPr/>
          <p:nvPr/>
        </p:nvSpPr>
        <p:spPr>
          <a:xfrm>
            <a:off x="428625" y="904874"/>
            <a:ext cx="8286750" cy="36861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C5AFE9-80D7-06E0-8830-9CA521452350}"/>
              </a:ext>
            </a:extLst>
          </p:cNvPr>
          <p:cNvSpPr txBox="1"/>
          <p:nvPr/>
        </p:nvSpPr>
        <p:spPr>
          <a:xfrm>
            <a:off x="714375" y="1123950"/>
            <a:ext cx="752475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400">
                <a:solidFill>
                  <a:srgbClr val="182030"/>
                </a:solidFill>
                <a:latin typeface="Aptos" panose="020B0004020202020204" pitchFamily="34" charset="0"/>
              </a:rPr>
              <a:t>Source documented in README: SpamAssassin Public Dataset. The notebook loads spam.csv using latin-1 encoding and keeps two columns.</a:t>
            </a:r>
            <a:endParaRPr lang="en-IN" sz="1400">
              <a:solidFill>
                <a:srgbClr val="18203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71B66D-14B6-9255-6226-71C4BAF6E20B}"/>
              </a:ext>
            </a:extLst>
          </p:cNvPr>
          <p:cNvSpPr/>
          <p:nvPr/>
        </p:nvSpPr>
        <p:spPr>
          <a:xfrm>
            <a:off x="714375" y="1619250"/>
            <a:ext cx="7524750" cy="295275"/>
          </a:xfrm>
          <a:prstGeom prst="rect">
            <a:avLst/>
          </a:prstGeom>
          <a:solidFill>
            <a:srgbClr val="102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686073-4681-1431-1866-BC92C59A9808}"/>
              </a:ext>
            </a:extLst>
          </p:cNvPr>
          <p:cNvSpPr txBox="1"/>
          <p:nvPr/>
        </p:nvSpPr>
        <p:spPr>
          <a:xfrm>
            <a:off x="790575" y="1676400"/>
            <a:ext cx="260985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Item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BBD0A2-ED6A-CE5C-AD01-26B09C2910D1}"/>
              </a:ext>
            </a:extLst>
          </p:cNvPr>
          <p:cNvSpPr txBox="1"/>
          <p:nvPr/>
        </p:nvSpPr>
        <p:spPr>
          <a:xfrm>
            <a:off x="3552825" y="1676400"/>
            <a:ext cx="46101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Actual value from files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27E826-7332-2EFA-A94D-AB57B593F0AF}"/>
              </a:ext>
            </a:extLst>
          </p:cNvPr>
          <p:cNvSpPr/>
          <p:nvPr/>
        </p:nvSpPr>
        <p:spPr>
          <a:xfrm>
            <a:off x="714375" y="1914525"/>
            <a:ext cx="7524750" cy="295275"/>
          </a:xfrm>
          <a:prstGeom prst="rect">
            <a:avLst/>
          </a:prstGeom>
          <a:solidFill>
            <a:srgbClr val="F8FBF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10F66C-61C3-B817-84BB-68F9A8338D84}"/>
              </a:ext>
            </a:extLst>
          </p:cNvPr>
          <p:cNvSpPr txBox="1"/>
          <p:nvPr/>
        </p:nvSpPr>
        <p:spPr>
          <a:xfrm>
            <a:off x="790575" y="1971675"/>
            <a:ext cx="260985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 b="1">
                <a:solidFill>
                  <a:srgbClr val="182030"/>
                </a:solidFill>
                <a:latin typeface="Aptos" panose="020B0004020202020204" pitchFamily="34" charset="0"/>
              </a:rPr>
              <a:t>Original columns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795AD8-B454-BF63-5B17-BA90D950C2BB}"/>
              </a:ext>
            </a:extLst>
          </p:cNvPr>
          <p:cNvSpPr txBox="1"/>
          <p:nvPr/>
        </p:nvSpPr>
        <p:spPr>
          <a:xfrm>
            <a:off x="3552825" y="1971675"/>
            <a:ext cx="46101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>
                <a:solidFill>
                  <a:srgbClr val="182030"/>
                </a:solidFill>
                <a:latin typeface="Aptos" panose="020B0004020202020204" pitchFamily="34" charset="0"/>
              </a:rPr>
              <a:t>v1, v2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E6E1EF-1B4F-1417-A35B-11CDA999D72C}"/>
              </a:ext>
            </a:extLst>
          </p:cNvPr>
          <p:cNvSpPr/>
          <p:nvPr/>
        </p:nvSpPr>
        <p:spPr>
          <a:xfrm>
            <a:off x="714375" y="2209800"/>
            <a:ext cx="7524750" cy="295275"/>
          </a:xfrm>
          <a:prstGeom prst="rect">
            <a:avLst/>
          </a:prstGeom>
          <a:solidFill>
            <a:srgbClr val="EEF6FC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FA2668-A229-8A71-5011-D070AE025753}"/>
              </a:ext>
            </a:extLst>
          </p:cNvPr>
          <p:cNvSpPr txBox="1"/>
          <p:nvPr/>
        </p:nvSpPr>
        <p:spPr>
          <a:xfrm>
            <a:off x="790575" y="2266950"/>
            <a:ext cx="260985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 b="1">
                <a:solidFill>
                  <a:srgbClr val="182030"/>
                </a:solidFill>
                <a:latin typeface="Aptos" panose="020B0004020202020204" pitchFamily="34" charset="0"/>
              </a:rPr>
              <a:t>Renamed columns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6EFAC3-CCB0-7C02-9EDF-67F512988CB1}"/>
              </a:ext>
            </a:extLst>
          </p:cNvPr>
          <p:cNvSpPr txBox="1"/>
          <p:nvPr/>
        </p:nvSpPr>
        <p:spPr>
          <a:xfrm>
            <a:off x="3552825" y="2266950"/>
            <a:ext cx="46101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>
                <a:solidFill>
                  <a:srgbClr val="182030"/>
                </a:solidFill>
                <a:latin typeface="Aptos" panose="020B0004020202020204" pitchFamily="34" charset="0"/>
              </a:rPr>
              <a:t>label, message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D01756-B83E-7598-4768-51178C6551D4}"/>
              </a:ext>
            </a:extLst>
          </p:cNvPr>
          <p:cNvSpPr/>
          <p:nvPr/>
        </p:nvSpPr>
        <p:spPr>
          <a:xfrm>
            <a:off x="714375" y="2505075"/>
            <a:ext cx="7524750" cy="295275"/>
          </a:xfrm>
          <a:prstGeom prst="rect">
            <a:avLst/>
          </a:prstGeom>
          <a:solidFill>
            <a:srgbClr val="F8FBF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C16D08-33D0-5945-2844-223897AD1FC9}"/>
              </a:ext>
            </a:extLst>
          </p:cNvPr>
          <p:cNvSpPr txBox="1"/>
          <p:nvPr/>
        </p:nvSpPr>
        <p:spPr>
          <a:xfrm>
            <a:off x="790575" y="2562225"/>
            <a:ext cx="260985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 b="1">
                <a:solidFill>
                  <a:srgbClr val="182030"/>
                </a:solidFill>
                <a:latin typeface="Aptos" panose="020B0004020202020204" pitchFamily="34" charset="0"/>
              </a:rPr>
              <a:t>Raw records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0CD455-5175-5094-1BE6-473DBB2C6AA7}"/>
              </a:ext>
            </a:extLst>
          </p:cNvPr>
          <p:cNvSpPr txBox="1"/>
          <p:nvPr/>
        </p:nvSpPr>
        <p:spPr>
          <a:xfrm>
            <a:off x="3552825" y="2562225"/>
            <a:ext cx="46101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>
                <a:solidFill>
                  <a:srgbClr val="182030"/>
                </a:solidFill>
                <a:latin typeface="Aptos" panose="020B0004020202020204" pitchFamily="34" charset="0"/>
              </a:rPr>
              <a:t>5,572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EBFCE9-85DA-8B23-78E9-77EC5B0DCD9E}"/>
              </a:ext>
            </a:extLst>
          </p:cNvPr>
          <p:cNvSpPr/>
          <p:nvPr/>
        </p:nvSpPr>
        <p:spPr>
          <a:xfrm>
            <a:off x="714375" y="2800350"/>
            <a:ext cx="7524750" cy="295275"/>
          </a:xfrm>
          <a:prstGeom prst="rect">
            <a:avLst/>
          </a:prstGeom>
          <a:solidFill>
            <a:srgbClr val="EEF6FC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BD5778-7988-007E-6296-9010BA5E57CD}"/>
              </a:ext>
            </a:extLst>
          </p:cNvPr>
          <p:cNvSpPr txBox="1"/>
          <p:nvPr/>
        </p:nvSpPr>
        <p:spPr>
          <a:xfrm>
            <a:off x="790575" y="2857500"/>
            <a:ext cx="260985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 b="1">
                <a:solidFill>
                  <a:srgbClr val="182030"/>
                </a:solidFill>
                <a:latin typeface="Aptos" panose="020B0004020202020204" pitchFamily="34" charset="0"/>
              </a:rPr>
              <a:t>Missing values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1BAD3F-ACD9-D320-E943-723B176C13B8}"/>
              </a:ext>
            </a:extLst>
          </p:cNvPr>
          <p:cNvSpPr txBox="1"/>
          <p:nvPr/>
        </p:nvSpPr>
        <p:spPr>
          <a:xfrm>
            <a:off x="3552825" y="2857500"/>
            <a:ext cx="46101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>
                <a:solidFill>
                  <a:srgbClr val="182030"/>
                </a:solidFill>
                <a:latin typeface="Aptos" panose="020B0004020202020204" pitchFamily="34" charset="0"/>
              </a:rPr>
              <a:t>0 in label, 0 in message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92E2D20-2616-4C0B-3DD6-61638E4D24B7}"/>
              </a:ext>
            </a:extLst>
          </p:cNvPr>
          <p:cNvSpPr/>
          <p:nvPr/>
        </p:nvSpPr>
        <p:spPr>
          <a:xfrm>
            <a:off x="714375" y="3095625"/>
            <a:ext cx="7524750" cy="295275"/>
          </a:xfrm>
          <a:prstGeom prst="rect">
            <a:avLst/>
          </a:prstGeom>
          <a:solidFill>
            <a:srgbClr val="F8FBF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8E81F6-C537-8E68-D542-C62F9CAC9792}"/>
              </a:ext>
            </a:extLst>
          </p:cNvPr>
          <p:cNvSpPr txBox="1"/>
          <p:nvPr/>
        </p:nvSpPr>
        <p:spPr>
          <a:xfrm>
            <a:off x="790575" y="3152775"/>
            <a:ext cx="260985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 b="1">
                <a:solidFill>
                  <a:srgbClr val="182030"/>
                </a:solidFill>
                <a:latin typeface="Aptos" panose="020B0004020202020204" pitchFamily="34" charset="0"/>
              </a:rPr>
              <a:t>Duplicates removed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DA51F2-51CD-FAD3-8198-5CA633F6B307}"/>
              </a:ext>
            </a:extLst>
          </p:cNvPr>
          <p:cNvSpPr txBox="1"/>
          <p:nvPr/>
        </p:nvSpPr>
        <p:spPr>
          <a:xfrm>
            <a:off x="3552825" y="3152775"/>
            <a:ext cx="46101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>
                <a:solidFill>
                  <a:srgbClr val="182030"/>
                </a:solidFill>
                <a:latin typeface="Aptos" panose="020B0004020202020204" pitchFamily="34" charset="0"/>
              </a:rPr>
              <a:t>403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E3A57C-547D-471F-0960-7E48FA4DA3F7}"/>
              </a:ext>
            </a:extLst>
          </p:cNvPr>
          <p:cNvSpPr/>
          <p:nvPr/>
        </p:nvSpPr>
        <p:spPr>
          <a:xfrm>
            <a:off x="714375" y="3390900"/>
            <a:ext cx="7524750" cy="295275"/>
          </a:xfrm>
          <a:prstGeom prst="rect">
            <a:avLst/>
          </a:prstGeom>
          <a:solidFill>
            <a:srgbClr val="EEF6FC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4ADDF8-9079-2D22-838E-86D046F88AAA}"/>
              </a:ext>
            </a:extLst>
          </p:cNvPr>
          <p:cNvSpPr txBox="1"/>
          <p:nvPr/>
        </p:nvSpPr>
        <p:spPr>
          <a:xfrm>
            <a:off x="790575" y="3448050"/>
            <a:ext cx="260985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 b="1">
                <a:solidFill>
                  <a:srgbClr val="182030"/>
                </a:solidFill>
                <a:latin typeface="Aptos" panose="020B0004020202020204" pitchFamily="34" charset="0"/>
              </a:rPr>
              <a:t>Usable records after cleaning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CA3970-CA2A-2A8B-4C6C-CDDD8200392A}"/>
              </a:ext>
            </a:extLst>
          </p:cNvPr>
          <p:cNvSpPr txBox="1"/>
          <p:nvPr/>
        </p:nvSpPr>
        <p:spPr>
          <a:xfrm>
            <a:off x="3552825" y="3448050"/>
            <a:ext cx="46101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>
                <a:solidFill>
                  <a:srgbClr val="182030"/>
                </a:solidFill>
                <a:latin typeface="Aptos" panose="020B0004020202020204" pitchFamily="34" charset="0"/>
              </a:rPr>
              <a:t>5,169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86EE77-C369-463C-EB6A-3ED82A389029}"/>
              </a:ext>
            </a:extLst>
          </p:cNvPr>
          <p:cNvSpPr/>
          <p:nvPr/>
        </p:nvSpPr>
        <p:spPr>
          <a:xfrm>
            <a:off x="714375" y="3686175"/>
            <a:ext cx="7524750" cy="295275"/>
          </a:xfrm>
          <a:prstGeom prst="rect">
            <a:avLst/>
          </a:prstGeom>
          <a:solidFill>
            <a:srgbClr val="F8FBF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4AD138-54DB-6875-4FC3-7E5EF7DD2408}"/>
              </a:ext>
            </a:extLst>
          </p:cNvPr>
          <p:cNvSpPr txBox="1"/>
          <p:nvPr/>
        </p:nvSpPr>
        <p:spPr>
          <a:xfrm>
            <a:off x="790575" y="3743325"/>
            <a:ext cx="260985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100" b="1">
                <a:solidFill>
                  <a:srgbClr val="182030"/>
                </a:solidFill>
                <a:latin typeface="Aptos" panose="020B0004020202020204" pitchFamily="34" charset="0"/>
              </a:rPr>
              <a:t>Class counts after duplicate removal</a:t>
            </a:r>
            <a:endParaRPr lang="en-IN" sz="1100" b="1">
              <a:solidFill>
                <a:srgbClr val="182030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5641F0-FAC1-3DBE-7EA7-25B8526835A2}"/>
              </a:ext>
            </a:extLst>
          </p:cNvPr>
          <p:cNvSpPr txBox="1"/>
          <p:nvPr/>
        </p:nvSpPr>
        <p:spPr>
          <a:xfrm>
            <a:off x="3552825" y="3743325"/>
            <a:ext cx="46101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>
                <a:solidFill>
                  <a:srgbClr val="182030"/>
                </a:solidFill>
                <a:latin typeface="Aptos" panose="020B0004020202020204" pitchFamily="34" charset="0"/>
              </a:rPr>
              <a:t>ham: 4,516 | spam: 653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8E6F992-5E8C-48CF-CABE-ABD0758BBFFB}"/>
              </a:ext>
            </a:extLst>
          </p:cNvPr>
          <p:cNvSpPr/>
          <p:nvPr/>
        </p:nvSpPr>
        <p:spPr>
          <a:xfrm>
            <a:off x="714375" y="3981450"/>
            <a:ext cx="7524750" cy="295275"/>
          </a:xfrm>
          <a:prstGeom prst="rect">
            <a:avLst/>
          </a:prstGeom>
          <a:solidFill>
            <a:srgbClr val="EEF6FC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29E88C-FF51-2013-4090-A930B3531BEC}"/>
              </a:ext>
            </a:extLst>
          </p:cNvPr>
          <p:cNvSpPr txBox="1"/>
          <p:nvPr/>
        </p:nvSpPr>
        <p:spPr>
          <a:xfrm>
            <a:off x="790575" y="4038600"/>
            <a:ext cx="260985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 b="1">
                <a:solidFill>
                  <a:srgbClr val="182030"/>
                </a:solidFill>
                <a:latin typeface="Aptos" panose="020B0004020202020204" pitchFamily="34" charset="0"/>
              </a:rPr>
              <a:t>Target variable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8BB77A-9AA5-B0C2-5B71-E79DDC3CE238}"/>
              </a:ext>
            </a:extLst>
          </p:cNvPr>
          <p:cNvSpPr txBox="1"/>
          <p:nvPr/>
        </p:nvSpPr>
        <p:spPr>
          <a:xfrm>
            <a:off x="3552825" y="4038600"/>
            <a:ext cx="46101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>
                <a:solidFill>
                  <a:srgbClr val="182030"/>
                </a:solidFill>
                <a:latin typeface="Aptos" panose="020B0004020202020204" pitchFamily="34" charset="0"/>
              </a:rPr>
              <a:t>label: ham=0, spam=1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64DC87E-AE06-D5FA-8476-EE2283F74D0D}"/>
              </a:ext>
            </a:extLst>
          </p:cNvPr>
          <p:cNvSpPr txBox="1"/>
          <p:nvPr/>
        </p:nvSpPr>
        <p:spPr>
          <a:xfrm>
            <a:off x="8334375" y="4810125"/>
            <a:ext cx="523875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800">
                <a:solidFill>
                  <a:srgbClr val="65748B"/>
                </a:solidFill>
                <a:latin typeface="Aptos" panose="020B0004020202020204" pitchFamily="34" charset="0"/>
              </a:rPr>
              <a:t>4 / 20</a:t>
            </a:r>
          </a:p>
        </p:txBody>
      </p:sp>
    </p:spTree>
    <p:extLst>
      <p:ext uri="{BB962C8B-B14F-4D97-AF65-F5344CB8AC3E}">
        <p14:creationId xmlns:p14="http://schemas.microsoft.com/office/powerpoint/2010/main" val="424118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166C8D-6235-C078-4C90-274F080F25F3}"/>
              </a:ext>
            </a:extLst>
          </p:cNvPr>
          <p:cNvSpPr/>
          <p:nvPr/>
        </p:nvSpPr>
        <p:spPr>
          <a:xfrm>
            <a:off x="0" y="0"/>
            <a:ext cx="9144000" cy="552450"/>
          </a:xfrm>
          <a:prstGeom prst="rect">
            <a:avLst/>
          </a:prstGeom>
          <a:solidFill>
            <a:srgbClr val="102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848B63-269C-EC0C-A5E3-1DAB06DD238F}"/>
              </a:ext>
            </a:extLst>
          </p:cNvPr>
          <p:cNvSpPr txBox="1"/>
          <p:nvPr/>
        </p:nvSpPr>
        <p:spPr>
          <a:xfrm>
            <a:off x="323850" y="114300"/>
            <a:ext cx="619125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000" b="1">
                <a:solidFill>
                  <a:srgbClr val="FFFFFF"/>
                </a:solidFill>
                <a:latin typeface="Aptos" panose="020B0004020202020204" pitchFamily="34" charset="0"/>
              </a:rPr>
              <a:t>Technologies &amp; Tools Used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6B4A76-3A8D-DE38-4214-F30B4EE60983}"/>
              </a:ext>
            </a:extLst>
          </p:cNvPr>
          <p:cNvSpPr txBox="1"/>
          <p:nvPr/>
        </p:nvSpPr>
        <p:spPr>
          <a:xfrm>
            <a:off x="6858000" y="142875"/>
            <a:ext cx="200025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900">
                <a:solidFill>
                  <a:srgbClr val="CCE0F7"/>
                </a:solidFill>
                <a:latin typeface="Aptos" panose="020B0004020202020204" pitchFamily="34" charset="0"/>
              </a:rPr>
              <a:t>Implementation stack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AA9ADB-2784-64DC-3343-698051D9E746}"/>
              </a:ext>
            </a:extLst>
          </p:cNvPr>
          <p:cNvSpPr/>
          <p:nvPr/>
        </p:nvSpPr>
        <p:spPr>
          <a:xfrm>
            <a:off x="0" y="552450"/>
            <a:ext cx="9144000" cy="381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D0DD065-A179-A928-E241-DD5021EBE213}"/>
              </a:ext>
            </a:extLst>
          </p:cNvPr>
          <p:cNvSpPr/>
          <p:nvPr/>
        </p:nvSpPr>
        <p:spPr>
          <a:xfrm>
            <a:off x="666750" y="933450"/>
            <a:ext cx="3429000" cy="5524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E6FF7F-09F9-45B4-B936-3C410119000D}"/>
              </a:ext>
            </a:extLst>
          </p:cNvPr>
          <p:cNvSpPr/>
          <p:nvPr/>
        </p:nvSpPr>
        <p:spPr>
          <a:xfrm>
            <a:off x="666750" y="933450"/>
            <a:ext cx="76200" cy="55245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23A200-0816-6F56-EA7F-919421FD2687}"/>
              </a:ext>
            </a:extLst>
          </p:cNvPr>
          <p:cNvSpPr txBox="1"/>
          <p:nvPr/>
        </p:nvSpPr>
        <p:spPr>
          <a:xfrm>
            <a:off x="895350" y="1009650"/>
            <a:ext cx="28575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400" b="1">
                <a:solidFill>
                  <a:srgbClr val="10264A"/>
                </a:solidFill>
                <a:latin typeface="Aptos" panose="020B0004020202020204" pitchFamily="34" charset="0"/>
              </a:rPr>
              <a:t>Python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F91605-3A37-1F38-DE86-50317D027EB6}"/>
              </a:ext>
            </a:extLst>
          </p:cNvPr>
          <p:cNvSpPr txBox="1"/>
          <p:nvPr/>
        </p:nvSpPr>
        <p:spPr>
          <a:xfrm>
            <a:off x="895350" y="1228725"/>
            <a:ext cx="3000375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000">
                <a:solidFill>
                  <a:srgbClr val="65748B"/>
                </a:solidFill>
                <a:latin typeface="Aptos" panose="020B0004020202020204" pitchFamily="34" charset="0"/>
              </a:rPr>
              <a:t>Core programming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CE5191A-A333-1B65-333D-0F0F23359336}"/>
              </a:ext>
            </a:extLst>
          </p:cNvPr>
          <p:cNvSpPr/>
          <p:nvPr/>
        </p:nvSpPr>
        <p:spPr>
          <a:xfrm>
            <a:off x="4762500" y="933450"/>
            <a:ext cx="3429000" cy="5524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D6BF03-4013-BFD9-D794-BD15AF829273}"/>
              </a:ext>
            </a:extLst>
          </p:cNvPr>
          <p:cNvSpPr/>
          <p:nvPr/>
        </p:nvSpPr>
        <p:spPr>
          <a:xfrm>
            <a:off x="4762500" y="933450"/>
            <a:ext cx="76200" cy="552450"/>
          </a:xfrm>
          <a:prstGeom prst="rect">
            <a:avLst/>
          </a:prstGeom>
          <a:solidFill>
            <a:srgbClr val="1F60A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5555D9-B925-FFDA-C63C-12A3E43D00A7}"/>
              </a:ext>
            </a:extLst>
          </p:cNvPr>
          <p:cNvSpPr txBox="1"/>
          <p:nvPr/>
        </p:nvSpPr>
        <p:spPr>
          <a:xfrm>
            <a:off x="4991100" y="1009650"/>
            <a:ext cx="28575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400" b="1">
                <a:solidFill>
                  <a:srgbClr val="10264A"/>
                </a:solidFill>
                <a:latin typeface="Aptos" panose="020B0004020202020204" pitchFamily="34" charset="0"/>
              </a:rPr>
              <a:t>Pandas / NumPy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E38B02-7B86-6C58-5DAB-07A172FA582B}"/>
              </a:ext>
            </a:extLst>
          </p:cNvPr>
          <p:cNvSpPr txBox="1"/>
          <p:nvPr/>
        </p:nvSpPr>
        <p:spPr>
          <a:xfrm>
            <a:off x="4991100" y="1228725"/>
            <a:ext cx="3000375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000">
                <a:solidFill>
                  <a:srgbClr val="65748B"/>
                </a:solidFill>
                <a:latin typeface="Aptos" panose="020B0004020202020204" pitchFamily="34" charset="0"/>
              </a:rPr>
              <a:t>Data handling and arrays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F83BC70-6FCE-BF83-868E-87A213695A21}"/>
              </a:ext>
            </a:extLst>
          </p:cNvPr>
          <p:cNvSpPr/>
          <p:nvPr/>
        </p:nvSpPr>
        <p:spPr>
          <a:xfrm>
            <a:off x="666750" y="1733550"/>
            <a:ext cx="3429000" cy="5524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BCB0BA-551D-794D-A958-F8DC98A1FF64}"/>
              </a:ext>
            </a:extLst>
          </p:cNvPr>
          <p:cNvSpPr/>
          <p:nvPr/>
        </p:nvSpPr>
        <p:spPr>
          <a:xfrm>
            <a:off x="666750" y="1733550"/>
            <a:ext cx="76200" cy="552450"/>
          </a:xfrm>
          <a:prstGeom prst="rect">
            <a:avLst/>
          </a:prstGeom>
          <a:solidFill>
            <a:srgbClr val="F5A6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1BD39A-46E2-86A2-1E13-2C9FE44839E3}"/>
              </a:ext>
            </a:extLst>
          </p:cNvPr>
          <p:cNvSpPr txBox="1"/>
          <p:nvPr/>
        </p:nvSpPr>
        <p:spPr>
          <a:xfrm>
            <a:off x="895350" y="1809750"/>
            <a:ext cx="28575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400" b="1">
                <a:solidFill>
                  <a:srgbClr val="10264A"/>
                </a:solidFill>
                <a:latin typeface="Aptos" panose="020B0004020202020204" pitchFamily="34" charset="0"/>
              </a:rPr>
              <a:t>NLTK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CF2BDC-5371-8C69-0CBD-CC54682E4A11}"/>
              </a:ext>
            </a:extLst>
          </p:cNvPr>
          <p:cNvSpPr txBox="1"/>
          <p:nvPr/>
        </p:nvSpPr>
        <p:spPr>
          <a:xfrm>
            <a:off x="895350" y="2028825"/>
            <a:ext cx="3000375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000">
                <a:solidFill>
                  <a:srgbClr val="65748B"/>
                </a:solidFill>
                <a:latin typeface="Aptos" panose="020B0004020202020204" pitchFamily="34" charset="0"/>
              </a:rPr>
              <a:t>Tokenization, stopword removal, stemming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0816F92-7B71-1171-0F40-BCEE4776168F}"/>
              </a:ext>
            </a:extLst>
          </p:cNvPr>
          <p:cNvSpPr/>
          <p:nvPr/>
        </p:nvSpPr>
        <p:spPr>
          <a:xfrm>
            <a:off x="4762500" y="1733550"/>
            <a:ext cx="3429000" cy="5524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225C27-E9BF-4EE5-59FC-0253E4383294}"/>
              </a:ext>
            </a:extLst>
          </p:cNvPr>
          <p:cNvSpPr/>
          <p:nvPr/>
        </p:nvSpPr>
        <p:spPr>
          <a:xfrm>
            <a:off x="4762500" y="1733550"/>
            <a:ext cx="76200" cy="552450"/>
          </a:xfrm>
          <a:prstGeom prst="rect">
            <a:avLst/>
          </a:prstGeom>
          <a:solidFill>
            <a:srgbClr val="E55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503843-D6CB-5A81-BF8F-EEA1379D9D04}"/>
              </a:ext>
            </a:extLst>
          </p:cNvPr>
          <p:cNvSpPr txBox="1"/>
          <p:nvPr/>
        </p:nvSpPr>
        <p:spPr>
          <a:xfrm>
            <a:off x="4991100" y="1809750"/>
            <a:ext cx="28575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400" b="1">
                <a:solidFill>
                  <a:srgbClr val="10264A"/>
                </a:solidFill>
                <a:latin typeface="Aptos" panose="020B0004020202020204" pitchFamily="34" charset="0"/>
              </a:rPr>
              <a:t>Scikit-learn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8F97FD-5D35-5665-6B2B-45BBFC49A91F}"/>
              </a:ext>
            </a:extLst>
          </p:cNvPr>
          <p:cNvSpPr txBox="1"/>
          <p:nvPr/>
        </p:nvSpPr>
        <p:spPr>
          <a:xfrm>
            <a:off x="4991100" y="2028825"/>
            <a:ext cx="3000375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000">
                <a:solidFill>
                  <a:srgbClr val="65748B"/>
                </a:solidFill>
                <a:latin typeface="Aptos" panose="020B0004020202020204" pitchFamily="34" charset="0"/>
              </a:rPr>
              <a:t>TF-IDF, model training, metrics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A39A032-CF31-009D-19EA-EC548D2DE712}"/>
              </a:ext>
            </a:extLst>
          </p:cNvPr>
          <p:cNvSpPr/>
          <p:nvPr/>
        </p:nvSpPr>
        <p:spPr>
          <a:xfrm>
            <a:off x="666750" y="2533650"/>
            <a:ext cx="3429000" cy="5524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9DCC62-8A62-A3B2-3435-4398EC62BB26}"/>
              </a:ext>
            </a:extLst>
          </p:cNvPr>
          <p:cNvSpPr/>
          <p:nvPr/>
        </p:nvSpPr>
        <p:spPr>
          <a:xfrm>
            <a:off x="666750" y="2533650"/>
            <a:ext cx="76200" cy="55245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8FD1AF-5EE1-898C-1A85-02DE45397649}"/>
              </a:ext>
            </a:extLst>
          </p:cNvPr>
          <p:cNvSpPr txBox="1"/>
          <p:nvPr/>
        </p:nvSpPr>
        <p:spPr>
          <a:xfrm>
            <a:off x="895350" y="2609850"/>
            <a:ext cx="28575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400" b="1">
                <a:solidFill>
                  <a:srgbClr val="10264A"/>
                </a:solidFill>
                <a:latin typeface="Aptos" panose="020B0004020202020204" pitchFamily="34" charset="0"/>
              </a:rPr>
              <a:t>Matplotlib / Seaborn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758CA0-9400-8738-43AD-F8830CEB42D5}"/>
              </a:ext>
            </a:extLst>
          </p:cNvPr>
          <p:cNvSpPr txBox="1"/>
          <p:nvPr/>
        </p:nvSpPr>
        <p:spPr>
          <a:xfrm>
            <a:off x="895350" y="2828925"/>
            <a:ext cx="3000375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000">
                <a:solidFill>
                  <a:srgbClr val="65748B"/>
                </a:solidFill>
                <a:latin typeface="Aptos" panose="020B0004020202020204" pitchFamily="34" charset="0"/>
              </a:rPr>
              <a:t>EDA and evaluation visuals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39900EE-ED96-6EF6-357C-83AD771BA1D5}"/>
              </a:ext>
            </a:extLst>
          </p:cNvPr>
          <p:cNvSpPr/>
          <p:nvPr/>
        </p:nvSpPr>
        <p:spPr>
          <a:xfrm>
            <a:off x="4762500" y="2533650"/>
            <a:ext cx="3429000" cy="5524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7118905-9A16-8F81-76F0-20DD1D0A74C6}"/>
              </a:ext>
            </a:extLst>
          </p:cNvPr>
          <p:cNvSpPr/>
          <p:nvPr/>
        </p:nvSpPr>
        <p:spPr>
          <a:xfrm>
            <a:off x="4762500" y="2533650"/>
            <a:ext cx="76200" cy="552450"/>
          </a:xfrm>
          <a:prstGeom prst="rect">
            <a:avLst/>
          </a:prstGeom>
          <a:solidFill>
            <a:srgbClr val="1F60A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8AF0DF-A6EF-BC8F-191A-F4CEF651390D}"/>
              </a:ext>
            </a:extLst>
          </p:cNvPr>
          <p:cNvSpPr txBox="1"/>
          <p:nvPr/>
        </p:nvSpPr>
        <p:spPr>
          <a:xfrm>
            <a:off x="4991100" y="2609850"/>
            <a:ext cx="28575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400" b="1">
                <a:solidFill>
                  <a:srgbClr val="10264A"/>
                </a:solidFill>
                <a:latin typeface="Aptos" panose="020B0004020202020204" pitchFamily="34" charset="0"/>
              </a:rPr>
              <a:t>Pickle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8303F2-9D81-02DE-0A73-10EFAF72B7FC}"/>
              </a:ext>
            </a:extLst>
          </p:cNvPr>
          <p:cNvSpPr txBox="1"/>
          <p:nvPr/>
        </p:nvSpPr>
        <p:spPr>
          <a:xfrm>
            <a:off x="4991100" y="2828925"/>
            <a:ext cx="3000375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000">
                <a:solidFill>
                  <a:srgbClr val="65748B"/>
                </a:solidFill>
                <a:latin typeface="Aptos" panose="020B0004020202020204" pitchFamily="34" charset="0"/>
              </a:rPr>
              <a:t>Model serialization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5100265-BC41-08A0-B00F-118665445DA4}"/>
              </a:ext>
            </a:extLst>
          </p:cNvPr>
          <p:cNvSpPr/>
          <p:nvPr/>
        </p:nvSpPr>
        <p:spPr>
          <a:xfrm>
            <a:off x="666750" y="3333750"/>
            <a:ext cx="3429000" cy="5524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C90E4D-801D-2B87-BFB1-B8591B21B49B}"/>
              </a:ext>
            </a:extLst>
          </p:cNvPr>
          <p:cNvSpPr/>
          <p:nvPr/>
        </p:nvSpPr>
        <p:spPr>
          <a:xfrm>
            <a:off x="666750" y="3333750"/>
            <a:ext cx="76200" cy="552450"/>
          </a:xfrm>
          <a:prstGeom prst="rect">
            <a:avLst/>
          </a:prstGeom>
          <a:solidFill>
            <a:srgbClr val="F5A6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419A92-4E47-964F-5CC0-173970D8D7ED}"/>
              </a:ext>
            </a:extLst>
          </p:cNvPr>
          <p:cNvSpPr txBox="1"/>
          <p:nvPr/>
        </p:nvSpPr>
        <p:spPr>
          <a:xfrm>
            <a:off x="895350" y="3409950"/>
            <a:ext cx="28575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400" b="1">
                <a:solidFill>
                  <a:srgbClr val="10264A"/>
                </a:solidFill>
                <a:latin typeface="Aptos" panose="020B0004020202020204" pitchFamily="34" charset="0"/>
              </a:rPr>
              <a:t>Streamlit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2CC250-13D0-4D1C-B95E-D8AE57B815E5}"/>
              </a:ext>
            </a:extLst>
          </p:cNvPr>
          <p:cNvSpPr txBox="1"/>
          <p:nvPr/>
        </p:nvSpPr>
        <p:spPr>
          <a:xfrm>
            <a:off x="895350" y="3629025"/>
            <a:ext cx="3000375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000">
                <a:solidFill>
                  <a:srgbClr val="65748B"/>
                </a:solidFill>
                <a:latin typeface="Aptos" panose="020B0004020202020204" pitchFamily="34" charset="0"/>
              </a:rPr>
              <a:t>Web deployment interface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AA36C0A-C425-D9E2-485F-A445832DB060}"/>
              </a:ext>
            </a:extLst>
          </p:cNvPr>
          <p:cNvSpPr/>
          <p:nvPr/>
        </p:nvSpPr>
        <p:spPr>
          <a:xfrm>
            <a:off x="4762500" y="3333750"/>
            <a:ext cx="3429000" cy="5524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D66FCA0-437F-BAA7-288B-DEC72EC6FADE}"/>
              </a:ext>
            </a:extLst>
          </p:cNvPr>
          <p:cNvSpPr/>
          <p:nvPr/>
        </p:nvSpPr>
        <p:spPr>
          <a:xfrm>
            <a:off x="4762500" y="3333750"/>
            <a:ext cx="76200" cy="552450"/>
          </a:xfrm>
          <a:prstGeom prst="rect">
            <a:avLst/>
          </a:prstGeom>
          <a:solidFill>
            <a:srgbClr val="E55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858C7D-A33A-314F-6236-C4014213A4CB}"/>
              </a:ext>
            </a:extLst>
          </p:cNvPr>
          <p:cNvSpPr txBox="1"/>
          <p:nvPr/>
        </p:nvSpPr>
        <p:spPr>
          <a:xfrm>
            <a:off x="4991100" y="3409950"/>
            <a:ext cx="2857500" cy="2667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400" b="1">
                <a:solidFill>
                  <a:srgbClr val="10264A"/>
                </a:solidFill>
                <a:latin typeface="Aptos" panose="020B0004020202020204" pitchFamily="34" charset="0"/>
              </a:rPr>
              <a:t>Google Colab / Jupyter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B38E6D-1CC5-04E8-E26B-88D061EAD825}"/>
              </a:ext>
            </a:extLst>
          </p:cNvPr>
          <p:cNvSpPr txBox="1"/>
          <p:nvPr/>
        </p:nvSpPr>
        <p:spPr>
          <a:xfrm>
            <a:off x="4991100" y="3629025"/>
            <a:ext cx="3000375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000">
                <a:solidFill>
                  <a:srgbClr val="65748B"/>
                </a:solidFill>
                <a:latin typeface="Aptos" panose="020B0004020202020204" pitchFamily="34" charset="0"/>
              </a:rPr>
              <a:t>Notebook development environment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544442-2D27-0079-57B0-0DDE34A52757}"/>
              </a:ext>
            </a:extLst>
          </p:cNvPr>
          <p:cNvSpPr txBox="1"/>
          <p:nvPr/>
        </p:nvSpPr>
        <p:spPr>
          <a:xfrm>
            <a:off x="8334375" y="4810125"/>
            <a:ext cx="523875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800">
                <a:solidFill>
                  <a:srgbClr val="65748B"/>
                </a:solidFill>
                <a:latin typeface="Aptos" panose="020B0004020202020204" pitchFamily="34" charset="0"/>
              </a:rPr>
              <a:t>5 / 20</a:t>
            </a:r>
          </a:p>
        </p:txBody>
      </p:sp>
    </p:spTree>
    <p:extLst>
      <p:ext uri="{BB962C8B-B14F-4D97-AF65-F5344CB8AC3E}">
        <p14:creationId xmlns:p14="http://schemas.microsoft.com/office/powerpoint/2010/main" val="3016867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E45B59-765F-4C69-4C14-F62E4F8A7926}"/>
              </a:ext>
            </a:extLst>
          </p:cNvPr>
          <p:cNvSpPr/>
          <p:nvPr/>
        </p:nvSpPr>
        <p:spPr>
          <a:xfrm>
            <a:off x="0" y="0"/>
            <a:ext cx="9144000" cy="552450"/>
          </a:xfrm>
          <a:prstGeom prst="rect">
            <a:avLst/>
          </a:prstGeom>
          <a:solidFill>
            <a:srgbClr val="102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11CD26-BC1A-5F14-5D40-9FE4D74A79F8}"/>
              </a:ext>
            </a:extLst>
          </p:cNvPr>
          <p:cNvSpPr txBox="1"/>
          <p:nvPr/>
        </p:nvSpPr>
        <p:spPr>
          <a:xfrm>
            <a:off x="323850" y="114300"/>
            <a:ext cx="619125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000" b="1">
                <a:solidFill>
                  <a:srgbClr val="FFFFFF"/>
                </a:solidFill>
                <a:latin typeface="Aptos" panose="020B0004020202020204" pitchFamily="34" charset="0"/>
              </a:rPr>
              <a:t>Project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A5424-C228-1A1D-E17F-B973C0B5C291}"/>
              </a:ext>
            </a:extLst>
          </p:cNvPr>
          <p:cNvSpPr txBox="1"/>
          <p:nvPr/>
        </p:nvSpPr>
        <p:spPr>
          <a:xfrm>
            <a:off x="6858000" y="142875"/>
            <a:ext cx="200025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900">
                <a:solidFill>
                  <a:srgbClr val="CCE0F7"/>
                </a:solidFill>
                <a:latin typeface="Aptos" panose="020B0004020202020204" pitchFamily="34" charset="0"/>
              </a:rPr>
              <a:t>End-to-end ML pipeline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1DE6F2-F614-58F3-F567-C1BEDB2645F9}"/>
              </a:ext>
            </a:extLst>
          </p:cNvPr>
          <p:cNvSpPr/>
          <p:nvPr/>
        </p:nvSpPr>
        <p:spPr>
          <a:xfrm>
            <a:off x="0" y="552450"/>
            <a:ext cx="9144000" cy="381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0451747-EAE2-C9D3-D873-F4909080D3DE}"/>
              </a:ext>
            </a:extLst>
          </p:cNvPr>
          <p:cNvSpPr/>
          <p:nvPr/>
        </p:nvSpPr>
        <p:spPr>
          <a:xfrm>
            <a:off x="523875" y="1762125"/>
            <a:ext cx="1143000" cy="72390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CCDA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C68937-7098-B7A5-B696-E3107270B89E}"/>
              </a:ext>
            </a:extLst>
          </p:cNvPr>
          <p:cNvSpPr txBox="1"/>
          <p:nvPr/>
        </p:nvSpPr>
        <p:spPr>
          <a:xfrm>
            <a:off x="600075" y="1952625"/>
            <a:ext cx="9906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1200" b="1">
                <a:solidFill>
                  <a:srgbClr val="10264A"/>
                </a:solidFill>
                <a:latin typeface="Aptos" panose="020B0004020202020204" pitchFamily="34" charset="0"/>
              </a:rPr>
              <a:t>Data Collection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5A8C3F-0D56-242C-E0DD-73F851177831}"/>
              </a:ext>
            </a:extLst>
          </p:cNvPr>
          <p:cNvSpPr txBox="1"/>
          <p:nvPr/>
        </p:nvSpPr>
        <p:spPr>
          <a:xfrm>
            <a:off x="1685925" y="1952625"/>
            <a:ext cx="285750" cy="3436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1900" b="1">
                <a:solidFill>
                  <a:srgbClr val="009688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024DAED-EE9E-74A8-6AFE-59CFE8A085C2}"/>
              </a:ext>
            </a:extLst>
          </p:cNvPr>
          <p:cNvSpPr/>
          <p:nvPr/>
        </p:nvSpPr>
        <p:spPr>
          <a:xfrm>
            <a:off x="1933575" y="1762125"/>
            <a:ext cx="1143000" cy="723900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CCDA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7B0D75-9D6B-9008-CE2E-E8E878CAFB5C}"/>
              </a:ext>
            </a:extLst>
          </p:cNvPr>
          <p:cNvSpPr txBox="1"/>
          <p:nvPr/>
        </p:nvSpPr>
        <p:spPr>
          <a:xfrm>
            <a:off x="2009775" y="1952625"/>
            <a:ext cx="9906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1200" b="1">
                <a:solidFill>
                  <a:srgbClr val="10264A"/>
                </a:solidFill>
                <a:latin typeface="Aptos" panose="020B0004020202020204" pitchFamily="34" charset="0"/>
              </a:rPr>
              <a:t>Data Preprocessing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B65286-FFC0-F4F7-06C3-2985F4E489B6}"/>
              </a:ext>
            </a:extLst>
          </p:cNvPr>
          <p:cNvSpPr txBox="1"/>
          <p:nvPr/>
        </p:nvSpPr>
        <p:spPr>
          <a:xfrm>
            <a:off x="3095625" y="1952625"/>
            <a:ext cx="285750" cy="3436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1900" b="1">
                <a:solidFill>
                  <a:srgbClr val="009688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9A38DBB-3BC0-5EAD-BFD9-E7129964F670}"/>
              </a:ext>
            </a:extLst>
          </p:cNvPr>
          <p:cNvSpPr/>
          <p:nvPr/>
        </p:nvSpPr>
        <p:spPr>
          <a:xfrm>
            <a:off x="3343275" y="1762125"/>
            <a:ext cx="1143000" cy="72390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CCDA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F85434-7EF7-5EF0-8DB6-CD8DC64A6CDD}"/>
              </a:ext>
            </a:extLst>
          </p:cNvPr>
          <p:cNvSpPr txBox="1"/>
          <p:nvPr/>
        </p:nvSpPr>
        <p:spPr>
          <a:xfrm>
            <a:off x="3419475" y="1952625"/>
            <a:ext cx="9906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1200" b="1">
                <a:solidFill>
                  <a:srgbClr val="10264A"/>
                </a:solidFill>
                <a:latin typeface="Aptos" panose="020B0004020202020204" pitchFamily="34" charset="0"/>
              </a:rPr>
              <a:t>Feature Engineering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47F0D3-FC5C-069B-8387-D01FE83FA674}"/>
              </a:ext>
            </a:extLst>
          </p:cNvPr>
          <p:cNvSpPr txBox="1"/>
          <p:nvPr/>
        </p:nvSpPr>
        <p:spPr>
          <a:xfrm>
            <a:off x="4505325" y="1952625"/>
            <a:ext cx="285750" cy="3436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1900" b="1">
                <a:solidFill>
                  <a:srgbClr val="009688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5F6371E-7E2F-9817-CDB3-ADD181B12EA8}"/>
              </a:ext>
            </a:extLst>
          </p:cNvPr>
          <p:cNvSpPr/>
          <p:nvPr/>
        </p:nvSpPr>
        <p:spPr>
          <a:xfrm>
            <a:off x="4752975" y="1762125"/>
            <a:ext cx="1143000" cy="72390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CCDA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1C1508-E272-05D8-5B99-2E05737BD799}"/>
              </a:ext>
            </a:extLst>
          </p:cNvPr>
          <p:cNvSpPr txBox="1"/>
          <p:nvPr/>
        </p:nvSpPr>
        <p:spPr>
          <a:xfrm>
            <a:off x="4829175" y="1952625"/>
            <a:ext cx="9906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1200" b="1">
                <a:solidFill>
                  <a:srgbClr val="10264A"/>
                </a:solidFill>
                <a:latin typeface="Aptos" panose="020B0004020202020204" pitchFamily="34" charset="0"/>
              </a:rPr>
              <a:t>Model Training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351CE9-071B-2B63-3248-9B75E4040BD8}"/>
              </a:ext>
            </a:extLst>
          </p:cNvPr>
          <p:cNvSpPr txBox="1"/>
          <p:nvPr/>
        </p:nvSpPr>
        <p:spPr>
          <a:xfrm>
            <a:off x="5915025" y="1952625"/>
            <a:ext cx="285750" cy="3436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1900" b="1">
                <a:solidFill>
                  <a:srgbClr val="009688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188C6B6-64B2-F607-18DC-965859FFA7D2}"/>
              </a:ext>
            </a:extLst>
          </p:cNvPr>
          <p:cNvSpPr/>
          <p:nvPr/>
        </p:nvSpPr>
        <p:spPr>
          <a:xfrm>
            <a:off x="6162675" y="1762125"/>
            <a:ext cx="1143000" cy="723900"/>
          </a:xfrm>
          <a:prstGeom prst="roundRect">
            <a:avLst/>
          </a:prstGeom>
          <a:solidFill>
            <a:srgbClr val="EBF3FF"/>
          </a:solidFill>
          <a:ln w="12700">
            <a:solidFill>
              <a:srgbClr val="CCDA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D8D649-560E-20E2-FD47-E399F244A87A}"/>
              </a:ext>
            </a:extLst>
          </p:cNvPr>
          <p:cNvSpPr txBox="1"/>
          <p:nvPr/>
        </p:nvSpPr>
        <p:spPr>
          <a:xfrm>
            <a:off x="6238875" y="1952625"/>
            <a:ext cx="9906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1200" b="1">
                <a:solidFill>
                  <a:srgbClr val="10264A"/>
                </a:solidFill>
                <a:latin typeface="Aptos" panose="020B0004020202020204" pitchFamily="34" charset="0"/>
              </a:rPr>
              <a:t>Evaluation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87DDF7-8E00-DC70-52B7-2D5B409BBF72}"/>
              </a:ext>
            </a:extLst>
          </p:cNvPr>
          <p:cNvSpPr txBox="1"/>
          <p:nvPr/>
        </p:nvSpPr>
        <p:spPr>
          <a:xfrm>
            <a:off x="7324725" y="1952625"/>
            <a:ext cx="285750" cy="3436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1900" b="1">
                <a:solidFill>
                  <a:srgbClr val="009688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D1F36DF-2CB2-6010-4D92-75A8FA4A3FDD}"/>
              </a:ext>
            </a:extLst>
          </p:cNvPr>
          <p:cNvSpPr/>
          <p:nvPr/>
        </p:nvSpPr>
        <p:spPr>
          <a:xfrm>
            <a:off x="7572375" y="1762125"/>
            <a:ext cx="1143000" cy="723900"/>
          </a:xfrm>
          <a:prstGeom prst="roundRect">
            <a:avLst/>
          </a:prstGeom>
          <a:solidFill>
            <a:srgbClr val="FFF7E6"/>
          </a:solidFill>
          <a:ln w="12700">
            <a:solidFill>
              <a:srgbClr val="CCDA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C717B8-9676-779F-57BB-B0EF572C37DE}"/>
              </a:ext>
            </a:extLst>
          </p:cNvPr>
          <p:cNvSpPr txBox="1"/>
          <p:nvPr/>
        </p:nvSpPr>
        <p:spPr>
          <a:xfrm>
            <a:off x="7648575" y="1952625"/>
            <a:ext cx="990600" cy="420628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1200" b="1">
                <a:solidFill>
                  <a:srgbClr val="10264A"/>
                </a:solidFill>
                <a:latin typeface="Aptos" panose="020B0004020202020204" pitchFamily="34" charset="0"/>
              </a:rPr>
              <a:t>Prediction / Deployment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81EAB5-EFD7-23A1-8EDC-813F2DB697C4}"/>
              </a:ext>
            </a:extLst>
          </p:cNvPr>
          <p:cNvSpPr txBox="1"/>
          <p:nvPr/>
        </p:nvSpPr>
        <p:spPr>
          <a:xfrm>
            <a:off x="857250" y="3048000"/>
            <a:ext cx="7429500" cy="15388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400">
                <a:solidFill>
                  <a:srgbClr val="182030"/>
                </a:solidFill>
                <a:latin typeface="Aptos" panose="020B0004020202020204" pitchFamily="34" charset="0"/>
              </a:rPr>
              <a:t>• Data Collection: load spam.csv from notebook.</a:t>
            </a:r>
          </a:p>
          <a:p>
            <a:pPr>
              <a:spcAft>
                <a:spcPts val="800"/>
              </a:spcAft>
            </a:pPr>
            <a:r>
              <a:rPr lang="en-US" sz="1400">
                <a:solidFill>
                  <a:srgbClr val="182030"/>
                </a:solidFill>
                <a:latin typeface="Aptos" panose="020B0004020202020204" pitchFamily="34" charset="0"/>
              </a:rPr>
              <a:t>• Preprocessing: lowercase, tokenize, remove noise and apply Porter stemming.</a:t>
            </a:r>
          </a:p>
          <a:p>
            <a:pPr>
              <a:spcAft>
                <a:spcPts val="800"/>
              </a:spcAft>
            </a:pPr>
            <a:r>
              <a:rPr lang="en-US" sz="1400">
                <a:solidFill>
                  <a:srgbClr val="182030"/>
                </a:solidFill>
                <a:latin typeface="Aptos" panose="020B0004020202020204" pitchFamily="34" charset="0"/>
              </a:rPr>
              <a:t>• Feature Engineering: TF-IDF vectorization with max_features=3000.</a:t>
            </a:r>
          </a:p>
          <a:p>
            <a:pPr>
              <a:spcAft>
                <a:spcPts val="800"/>
              </a:spcAft>
            </a:pPr>
            <a:r>
              <a:rPr lang="en-US" sz="1400">
                <a:solidFill>
                  <a:srgbClr val="182030"/>
                </a:solidFill>
                <a:latin typeface="Aptos" panose="020B0004020202020204" pitchFamily="34" charset="0"/>
              </a:rPr>
              <a:t>• Training and Evaluation: compare four supervised classifiers and select SVM.</a:t>
            </a:r>
          </a:p>
          <a:p>
            <a:pPr>
              <a:spcAft>
                <a:spcPts val="800"/>
              </a:spcAft>
            </a:pPr>
            <a:r>
              <a:rPr lang="en-US" sz="1400">
                <a:solidFill>
                  <a:srgbClr val="182030"/>
                </a:solidFill>
                <a:latin typeface="Aptos" panose="020B0004020202020204" pitchFamily="34" charset="0"/>
              </a:rPr>
              <a:t>• Deployment: save models with Pickle and use Streamlit for live prediction.</a:t>
            </a:r>
            <a:endParaRPr lang="en-IN" sz="1400">
              <a:solidFill>
                <a:srgbClr val="182030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BC0083-1D0B-4F0E-927D-B0BE3FC3F0E2}"/>
              </a:ext>
            </a:extLst>
          </p:cNvPr>
          <p:cNvSpPr txBox="1"/>
          <p:nvPr/>
        </p:nvSpPr>
        <p:spPr>
          <a:xfrm>
            <a:off x="8334375" y="4810125"/>
            <a:ext cx="523875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800">
                <a:solidFill>
                  <a:srgbClr val="65748B"/>
                </a:solidFill>
                <a:latin typeface="Aptos" panose="020B0004020202020204" pitchFamily="34" charset="0"/>
              </a:rPr>
              <a:t>6 / 20</a:t>
            </a:r>
          </a:p>
        </p:txBody>
      </p:sp>
    </p:spTree>
    <p:extLst>
      <p:ext uri="{BB962C8B-B14F-4D97-AF65-F5344CB8AC3E}">
        <p14:creationId xmlns:p14="http://schemas.microsoft.com/office/powerpoint/2010/main" val="166289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045F90-E671-8D51-450A-E4E25017DFFC}"/>
              </a:ext>
            </a:extLst>
          </p:cNvPr>
          <p:cNvSpPr/>
          <p:nvPr/>
        </p:nvSpPr>
        <p:spPr>
          <a:xfrm>
            <a:off x="0" y="0"/>
            <a:ext cx="9144000" cy="552450"/>
          </a:xfrm>
          <a:prstGeom prst="rect">
            <a:avLst/>
          </a:prstGeom>
          <a:solidFill>
            <a:srgbClr val="102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10B67C-5801-40A9-CC1D-F382BB712CBD}"/>
              </a:ext>
            </a:extLst>
          </p:cNvPr>
          <p:cNvSpPr txBox="1"/>
          <p:nvPr/>
        </p:nvSpPr>
        <p:spPr>
          <a:xfrm>
            <a:off x="323850" y="114300"/>
            <a:ext cx="619125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000" b="1">
                <a:solidFill>
                  <a:srgbClr val="FFFFFF"/>
                </a:solidFill>
                <a:latin typeface="Aptos" panose="020B0004020202020204" pitchFamily="34" charset="0"/>
              </a:rPr>
              <a:t>EDA: Spam vs Ham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0BB6F8-9793-1B4E-BC5E-FC6E7C2EC15D}"/>
              </a:ext>
            </a:extLst>
          </p:cNvPr>
          <p:cNvSpPr txBox="1"/>
          <p:nvPr/>
        </p:nvSpPr>
        <p:spPr>
          <a:xfrm>
            <a:off x="6858000" y="142875"/>
            <a:ext cx="200025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900">
                <a:solidFill>
                  <a:srgbClr val="CCE0F7"/>
                </a:solidFill>
                <a:latin typeface="Aptos" panose="020B0004020202020204" pitchFamily="34" charset="0"/>
              </a:rPr>
              <a:t>Class balance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C78688-A4BD-D959-F7FE-B5B557DFD2A3}"/>
              </a:ext>
            </a:extLst>
          </p:cNvPr>
          <p:cNvSpPr/>
          <p:nvPr/>
        </p:nvSpPr>
        <p:spPr>
          <a:xfrm>
            <a:off x="0" y="552450"/>
            <a:ext cx="9144000" cy="381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702FA8-2798-6115-0D5E-C9EAFA6BAFE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50" y="927127"/>
            <a:ext cx="4095750" cy="3213045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A80E7C-42D5-699E-36E3-853666D2077D}"/>
              </a:ext>
            </a:extLst>
          </p:cNvPr>
          <p:cNvSpPr/>
          <p:nvPr/>
        </p:nvSpPr>
        <p:spPr>
          <a:xfrm>
            <a:off x="5095875" y="1066800"/>
            <a:ext cx="3238500" cy="33766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351B88-0AEF-BF50-A5F4-0E34EB6B0F40}"/>
              </a:ext>
            </a:extLst>
          </p:cNvPr>
          <p:cNvSpPr txBox="1"/>
          <p:nvPr/>
        </p:nvSpPr>
        <p:spPr>
          <a:xfrm>
            <a:off x="5381625" y="1285875"/>
            <a:ext cx="2667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b="1">
                <a:solidFill>
                  <a:srgbClr val="10264A"/>
                </a:solidFill>
                <a:latin typeface="Aptos" panose="020B0004020202020204" pitchFamily="34" charset="0"/>
              </a:rPr>
              <a:t>Key Observations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3100EE-B3F3-9F6F-8BFE-CC6FA2C472FD}"/>
              </a:ext>
            </a:extLst>
          </p:cNvPr>
          <p:cNvSpPr txBox="1"/>
          <p:nvPr/>
        </p:nvSpPr>
        <p:spPr>
          <a:xfrm>
            <a:off x="5381625" y="1714500"/>
            <a:ext cx="2571750" cy="272895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182030"/>
                </a:solidFill>
                <a:latin typeface="Aptos" panose="020B0004020202020204" pitchFamily="34" charset="0"/>
              </a:rPr>
              <a:t>• Ham messages are much higher than spam messages.</a:t>
            </a:r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182030"/>
                </a:solidFill>
                <a:latin typeface="Aptos" panose="020B0004020202020204" pitchFamily="34" charset="0"/>
              </a:rPr>
              <a:t>• After duplicate removal: 4,516 ham and 653 spam messages.</a:t>
            </a:r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182030"/>
                </a:solidFill>
                <a:latin typeface="Aptos" panose="020B0004020202020204" pitchFamily="34" charset="0"/>
              </a:rPr>
              <a:t>• The task is slightly imbalanced, but still has enough spam samples for training.</a:t>
            </a:r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182030"/>
                </a:solidFill>
                <a:latin typeface="Aptos" panose="020B0004020202020204" pitchFamily="34" charset="0"/>
              </a:rPr>
              <a:t>• Evaluation should consider recall and F1-score, not accuracy alone.</a:t>
            </a:r>
            <a:endParaRPr lang="en-IN" sz="1400" dirty="0">
              <a:solidFill>
                <a:srgbClr val="182030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FE738F-618A-351D-B9B4-CC5DE5E46B86}"/>
              </a:ext>
            </a:extLst>
          </p:cNvPr>
          <p:cNvSpPr txBox="1"/>
          <p:nvPr/>
        </p:nvSpPr>
        <p:spPr>
          <a:xfrm>
            <a:off x="8334375" y="4810125"/>
            <a:ext cx="523875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800">
                <a:solidFill>
                  <a:srgbClr val="65748B"/>
                </a:solidFill>
                <a:latin typeface="Aptos" panose="020B0004020202020204" pitchFamily="34" charset="0"/>
              </a:rPr>
              <a:t>7 / 20</a:t>
            </a:r>
          </a:p>
        </p:txBody>
      </p:sp>
    </p:spTree>
    <p:extLst>
      <p:ext uri="{BB962C8B-B14F-4D97-AF65-F5344CB8AC3E}">
        <p14:creationId xmlns:p14="http://schemas.microsoft.com/office/powerpoint/2010/main" val="4186195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329017-0E5C-3F6E-905E-C31FC8DA07D5}"/>
              </a:ext>
            </a:extLst>
          </p:cNvPr>
          <p:cNvSpPr/>
          <p:nvPr/>
        </p:nvSpPr>
        <p:spPr>
          <a:xfrm>
            <a:off x="0" y="0"/>
            <a:ext cx="9144000" cy="552450"/>
          </a:xfrm>
          <a:prstGeom prst="rect">
            <a:avLst/>
          </a:prstGeom>
          <a:solidFill>
            <a:srgbClr val="102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478AAA-4128-7E0E-D2DE-34ACA34ECC0D}"/>
              </a:ext>
            </a:extLst>
          </p:cNvPr>
          <p:cNvSpPr txBox="1"/>
          <p:nvPr/>
        </p:nvSpPr>
        <p:spPr>
          <a:xfrm>
            <a:off x="323850" y="114300"/>
            <a:ext cx="619125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000" b="1">
                <a:solidFill>
                  <a:srgbClr val="FFFFFF"/>
                </a:solidFill>
                <a:latin typeface="Aptos" panose="020B0004020202020204" pitchFamily="34" charset="0"/>
              </a:rPr>
              <a:t>EDA: Message Length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F8F57C-5D52-564F-9F12-719B8902A059}"/>
              </a:ext>
            </a:extLst>
          </p:cNvPr>
          <p:cNvSpPr txBox="1"/>
          <p:nvPr/>
        </p:nvSpPr>
        <p:spPr>
          <a:xfrm>
            <a:off x="6858000" y="142875"/>
            <a:ext cx="200025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900">
                <a:solidFill>
                  <a:srgbClr val="CCE0F7"/>
                </a:solidFill>
                <a:latin typeface="Aptos" panose="020B0004020202020204" pitchFamily="34" charset="0"/>
              </a:rPr>
              <a:t>Text behavior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B87E28-BCBB-9D9A-327E-9844586E18EB}"/>
              </a:ext>
            </a:extLst>
          </p:cNvPr>
          <p:cNvSpPr/>
          <p:nvPr/>
        </p:nvSpPr>
        <p:spPr>
          <a:xfrm>
            <a:off x="0" y="552450"/>
            <a:ext cx="9144000" cy="381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CA83CA-7B75-73A7-2269-2B07185C04C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968524"/>
            <a:ext cx="4953000" cy="3187401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7B6F8CD-4C74-0E98-7A40-DA0D00DB47CB}"/>
              </a:ext>
            </a:extLst>
          </p:cNvPr>
          <p:cNvSpPr/>
          <p:nvPr/>
        </p:nvSpPr>
        <p:spPr>
          <a:xfrm>
            <a:off x="5572125" y="1371600"/>
            <a:ext cx="2762250" cy="29510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699813-5E0A-6F78-2244-0215E4A99D9C}"/>
              </a:ext>
            </a:extLst>
          </p:cNvPr>
          <p:cNvSpPr txBox="1"/>
          <p:nvPr/>
        </p:nvSpPr>
        <p:spPr>
          <a:xfrm>
            <a:off x="5953125" y="1371600"/>
            <a:ext cx="219075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b="1">
                <a:solidFill>
                  <a:srgbClr val="10264A"/>
                </a:solidFill>
                <a:latin typeface="Aptos" panose="020B0004020202020204" pitchFamily="34" charset="0"/>
              </a:rPr>
              <a:t>Insights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2C6178-C582-C1F5-7DAE-50DE858D40B9}"/>
              </a:ext>
            </a:extLst>
          </p:cNvPr>
          <p:cNvSpPr txBox="1"/>
          <p:nvPr/>
        </p:nvSpPr>
        <p:spPr>
          <a:xfrm>
            <a:off x="5953125" y="1790700"/>
            <a:ext cx="2190750" cy="255967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82030"/>
                </a:solidFill>
                <a:latin typeface="Aptos" panose="020B0004020202020204" pitchFamily="34" charset="0"/>
              </a:rPr>
              <a:t>• Notebook creates </a:t>
            </a:r>
            <a:r>
              <a:rPr lang="en-US" sz="1300" dirty="0" err="1">
                <a:solidFill>
                  <a:srgbClr val="182030"/>
                </a:solidFill>
                <a:latin typeface="Aptos" panose="020B0004020202020204" pitchFamily="34" charset="0"/>
              </a:rPr>
              <a:t>message_length</a:t>
            </a:r>
            <a:r>
              <a:rPr lang="en-US" sz="1300" dirty="0">
                <a:solidFill>
                  <a:srgbClr val="182030"/>
                </a:solidFill>
                <a:latin typeface="Aptos" panose="020B0004020202020204" pitchFamily="34" charset="0"/>
              </a:rPr>
              <a:t> using Python </a:t>
            </a:r>
            <a:r>
              <a:rPr lang="en-US" sz="1300" dirty="0" err="1">
                <a:solidFill>
                  <a:srgbClr val="182030"/>
                </a:solidFill>
                <a:latin typeface="Aptos" panose="020B0004020202020204" pitchFamily="34" charset="0"/>
              </a:rPr>
              <a:t>len</a:t>
            </a:r>
            <a:r>
              <a:rPr lang="en-US" sz="1300" dirty="0">
                <a:solidFill>
                  <a:srgbClr val="182030"/>
                </a:solidFill>
                <a:latin typeface="Aptos" panose="020B0004020202020204" pitchFamily="34" charset="0"/>
              </a:rPr>
              <a:t>().</a:t>
            </a:r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82030"/>
                </a:solidFill>
                <a:latin typeface="Aptos" panose="020B0004020202020204" pitchFamily="34" charset="0"/>
              </a:rPr>
              <a:t>• Spam messages tend to include longer promotional content.</a:t>
            </a:r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82030"/>
                </a:solidFill>
                <a:latin typeface="Aptos" panose="020B0004020202020204" pitchFamily="34" charset="0"/>
              </a:rPr>
              <a:t>• Ham messages are often shorter and conversational.</a:t>
            </a:r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82030"/>
                </a:solidFill>
                <a:latin typeface="Aptos" panose="020B0004020202020204" pitchFamily="34" charset="0"/>
              </a:rPr>
              <a:t>• Length patterns support the need for preprocessing and feature extraction.</a:t>
            </a:r>
            <a:endParaRPr lang="en-IN" sz="1300" dirty="0">
              <a:solidFill>
                <a:srgbClr val="182030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02B542-BF1E-B500-2318-C76088FE8569}"/>
              </a:ext>
            </a:extLst>
          </p:cNvPr>
          <p:cNvSpPr txBox="1"/>
          <p:nvPr/>
        </p:nvSpPr>
        <p:spPr>
          <a:xfrm>
            <a:off x="8334375" y="4810125"/>
            <a:ext cx="523875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800">
                <a:solidFill>
                  <a:srgbClr val="65748B"/>
                </a:solidFill>
                <a:latin typeface="Aptos" panose="020B0004020202020204" pitchFamily="34" charset="0"/>
              </a:rPr>
              <a:t>8 / 20</a:t>
            </a:r>
          </a:p>
        </p:txBody>
      </p:sp>
    </p:spTree>
    <p:extLst>
      <p:ext uri="{BB962C8B-B14F-4D97-AF65-F5344CB8AC3E}">
        <p14:creationId xmlns:p14="http://schemas.microsoft.com/office/powerpoint/2010/main" val="894084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232EE6-4740-65B7-FE24-E7A98F8F0DB8}"/>
              </a:ext>
            </a:extLst>
          </p:cNvPr>
          <p:cNvSpPr/>
          <p:nvPr/>
        </p:nvSpPr>
        <p:spPr>
          <a:xfrm>
            <a:off x="0" y="0"/>
            <a:ext cx="9144000" cy="552450"/>
          </a:xfrm>
          <a:prstGeom prst="rect">
            <a:avLst/>
          </a:prstGeom>
          <a:solidFill>
            <a:srgbClr val="102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0E5B5A-C8F8-8FB9-759D-710DA8CD25BC}"/>
              </a:ext>
            </a:extLst>
          </p:cNvPr>
          <p:cNvSpPr txBox="1"/>
          <p:nvPr/>
        </p:nvSpPr>
        <p:spPr>
          <a:xfrm>
            <a:off x="323850" y="114300"/>
            <a:ext cx="619125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000" b="1">
                <a:solidFill>
                  <a:srgbClr val="FFFFFF"/>
                </a:solidFill>
                <a:latin typeface="Aptos" panose="020B0004020202020204" pitchFamily="34" charset="0"/>
              </a:rPr>
              <a:t>Data Preprocessing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26D8FA-A327-646B-D7F6-CE92D2E72899}"/>
              </a:ext>
            </a:extLst>
          </p:cNvPr>
          <p:cNvSpPr txBox="1"/>
          <p:nvPr/>
        </p:nvSpPr>
        <p:spPr>
          <a:xfrm>
            <a:off x="6858000" y="142875"/>
            <a:ext cx="200025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900">
                <a:solidFill>
                  <a:srgbClr val="CCE0F7"/>
                </a:solidFill>
                <a:latin typeface="Aptos" panose="020B0004020202020204" pitchFamily="34" charset="0"/>
              </a:rPr>
              <a:t>Actual notebook steps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703CDD-228D-EE33-1161-9FC821B17E15}"/>
              </a:ext>
            </a:extLst>
          </p:cNvPr>
          <p:cNvSpPr/>
          <p:nvPr/>
        </p:nvSpPr>
        <p:spPr>
          <a:xfrm>
            <a:off x="0" y="552450"/>
            <a:ext cx="9144000" cy="381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F24FA7-F8CB-9E59-E74F-4179511A431D}"/>
              </a:ext>
            </a:extLst>
          </p:cNvPr>
          <p:cNvSpPr txBox="1"/>
          <p:nvPr/>
        </p:nvSpPr>
        <p:spPr>
          <a:xfrm>
            <a:off x="523875" y="914400"/>
            <a:ext cx="3905250" cy="293413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400">
                <a:solidFill>
                  <a:srgbClr val="182030"/>
                </a:solidFill>
                <a:latin typeface="Aptos" panose="020B0004020202020204" pitchFamily="34" charset="0"/>
              </a:rPr>
              <a:t>• Kept only required columns: v1 and v2, renamed to label and message.</a:t>
            </a:r>
          </a:p>
          <a:p>
            <a:pPr>
              <a:spcAft>
                <a:spcPts val="800"/>
              </a:spcAft>
            </a:pPr>
            <a:r>
              <a:rPr lang="en-US" sz="1400">
                <a:solidFill>
                  <a:srgbClr val="182030"/>
                </a:solidFill>
                <a:latin typeface="Aptos" panose="020B0004020202020204" pitchFamily="34" charset="0"/>
              </a:rPr>
              <a:t>• Removed 403 duplicate rows using drop_duplicates(keep="first").</a:t>
            </a:r>
          </a:p>
          <a:p>
            <a:pPr>
              <a:spcAft>
                <a:spcPts val="800"/>
              </a:spcAft>
            </a:pPr>
            <a:r>
              <a:rPr lang="en-US" sz="1400">
                <a:solidFill>
                  <a:srgbClr val="182030"/>
                </a:solidFill>
                <a:latin typeface="Aptos" panose="020B0004020202020204" pitchFamily="34" charset="0"/>
              </a:rPr>
              <a:t>• Converted labels: ham = 0 and spam = 1.</a:t>
            </a:r>
          </a:p>
          <a:p>
            <a:pPr>
              <a:spcAft>
                <a:spcPts val="800"/>
              </a:spcAft>
            </a:pPr>
            <a:r>
              <a:rPr lang="en-US" sz="1400">
                <a:solidFill>
                  <a:srgbClr val="182030"/>
                </a:solidFill>
                <a:latin typeface="Aptos" panose="020B0004020202020204" pitchFamily="34" charset="0"/>
              </a:rPr>
              <a:t>• Lowercased text and tokenized with NLTK word_tokenize.</a:t>
            </a:r>
          </a:p>
          <a:p>
            <a:pPr>
              <a:spcAft>
                <a:spcPts val="800"/>
              </a:spcAft>
            </a:pPr>
            <a:r>
              <a:rPr lang="en-US" sz="1400">
                <a:solidFill>
                  <a:srgbClr val="182030"/>
                </a:solidFill>
                <a:latin typeface="Aptos" panose="020B0004020202020204" pitchFamily="34" charset="0"/>
              </a:rPr>
              <a:t>• Removed non-alphanumeric tokens, English stopwords, and punctuation.</a:t>
            </a:r>
          </a:p>
          <a:p>
            <a:pPr>
              <a:spcAft>
                <a:spcPts val="800"/>
              </a:spcAft>
            </a:pPr>
            <a:r>
              <a:rPr lang="en-US" sz="1400">
                <a:solidFill>
                  <a:srgbClr val="182030"/>
                </a:solidFill>
                <a:latin typeface="Aptos" panose="020B0004020202020204" pitchFamily="34" charset="0"/>
              </a:rPr>
              <a:t>• Applied PorterStemmer to reduce words to root forms.</a:t>
            </a:r>
            <a:endParaRPr lang="en-IN" sz="1400">
              <a:solidFill>
                <a:srgbClr val="182030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13944A8-5D22-FDCB-D86A-F0034B90870A}"/>
              </a:ext>
            </a:extLst>
          </p:cNvPr>
          <p:cNvSpPr/>
          <p:nvPr/>
        </p:nvSpPr>
        <p:spPr>
          <a:xfrm>
            <a:off x="4810125" y="1066800"/>
            <a:ext cx="3571875" cy="2667437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9181BC-DD65-B7E9-9CEA-BC281275556D}"/>
              </a:ext>
            </a:extLst>
          </p:cNvPr>
          <p:cNvSpPr txBox="1"/>
          <p:nvPr/>
        </p:nvSpPr>
        <p:spPr>
          <a:xfrm>
            <a:off x="5095875" y="1153954"/>
            <a:ext cx="2952750" cy="57451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700" b="1" dirty="0">
                <a:solidFill>
                  <a:srgbClr val="10264A"/>
                </a:solidFill>
                <a:latin typeface="Aptos" panose="020B0004020202020204" pitchFamily="34" charset="0"/>
              </a:rPr>
              <a:t>Example Transformed Output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B727D6-C5EA-06F3-255F-EDED4AD92C93}"/>
              </a:ext>
            </a:extLst>
          </p:cNvPr>
          <p:cNvSpPr txBox="1"/>
          <p:nvPr/>
        </p:nvSpPr>
        <p:spPr>
          <a:xfrm>
            <a:off x="5095875" y="1714500"/>
            <a:ext cx="2857500" cy="60529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200">
                <a:solidFill>
                  <a:srgbClr val="182030"/>
                </a:solidFill>
                <a:latin typeface="Aptos" panose="020B0004020202020204" pitchFamily="34" charset="0"/>
              </a:rPr>
              <a:t>Original label: ham = 0`rMessage length: 111`rTransformed text:`rgo jurong point crazi avail bugi n great world...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663B0E-83E6-480B-9D8C-BD41DB436813}"/>
              </a:ext>
            </a:extLst>
          </p:cNvPr>
          <p:cNvSpPr txBox="1"/>
          <p:nvPr/>
        </p:nvSpPr>
        <p:spPr>
          <a:xfrm>
            <a:off x="5095875" y="3000375"/>
            <a:ext cx="2857500" cy="65146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300" b="1">
                <a:solidFill>
                  <a:srgbClr val="009688"/>
                </a:solidFill>
                <a:latin typeface="Aptos" panose="020B0004020202020204" pitchFamily="34" charset="0"/>
              </a:rPr>
              <a:t>Cleaning reduces noise so TF-IDF can focus on meaningful spam-related terms.</a:t>
            </a:r>
            <a:endParaRPr lang="en-IN" sz="1300" b="1">
              <a:solidFill>
                <a:srgbClr val="009688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777BF3-0653-9E82-7514-12E1AF4E601C}"/>
              </a:ext>
            </a:extLst>
          </p:cNvPr>
          <p:cNvSpPr txBox="1"/>
          <p:nvPr/>
        </p:nvSpPr>
        <p:spPr>
          <a:xfrm>
            <a:off x="8334375" y="4810125"/>
            <a:ext cx="523875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800">
                <a:solidFill>
                  <a:srgbClr val="65748B"/>
                </a:solidFill>
                <a:latin typeface="Aptos" panose="020B0004020202020204" pitchFamily="34" charset="0"/>
              </a:rPr>
              <a:t>9 / 20</a:t>
            </a:r>
          </a:p>
        </p:txBody>
      </p:sp>
    </p:spTree>
    <p:extLst>
      <p:ext uri="{BB962C8B-B14F-4D97-AF65-F5344CB8AC3E}">
        <p14:creationId xmlns:p14="http://schemas.microsoft.com/office/powerpoint/2010/main" val="3878409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4F1D10-C56E-7CBD-4A86-CB0E43E9CF10}"/>
              </a:ext>
            </a:extLst>
          </p:cNvPr>
          <p:cNvSpPr/>
          <p:nvPr/>
        </p:nvSpPr>
        <p:spPr>
          <a:xfrm>
            <a:off x="0" y="0"/>
            <a:ext cx="9144000" cy="552450"/>
          </a:xfrm>
          <a:prstGeom prst="rect">
            <a:avLst/>
          </a:prstGeom>
          <a:solidFill>
            <a:srgbClr val="102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D33720-E0EE-33B7-18CF-BABC75BAB338}"/>
              </a:ext>
            </a:extLst>
          </p:cNvPr>
          <p:cNvSpPr txBox="1"/>
          <p:nvPr/>
        </p:nvSpPr>
        <p:spPr>
          <a:xfrm>
            <a:off x="323850" y="114300"/>
            <a:ext cx="619125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000" b="1">
                <a:solidFill>
                  <a:srgbClr val="FFFFFF"/>
                </a:solidFill>
                <a:latin typeface="Aptos" panose="020B0004020202020204" pitchFamily="34" charset="0"/>
              </a:rPr>
              <a:t>Feature Engineering &amp; Split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4DEC31-AC35-79D9-A39C-46E24D16C902}"/>
              </a:ext>
            </a:extLst>
          </p:cNvPr>
          <p:cNvSpPr txBox="1"/>
          <p:nvPr/>
        </p:nvSpPr>
        <p:spPr>
          <a:xfrm>
            <a:off x="6858000" y="142875"/>
            <a:ext cx="200025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900">
                <a:solidFill>
                  <a:srgbClr val="CCE0F7"/>
                </a:solidFill>
                <a:latin typeface="Aptos" panose="020B0004020202020204" pitchFamily="34" charset="0"/>
              </a:rPr>
              <a:t>Text to model-ready numbers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DD3832-C041-FDE5-83C8-A88DFCA35A56}"/>
              </a:ext>
            </a:extLst>
          </p:cNvPr>
          <p:cNvSpPr/>
          <p:nvPr/>
        </p:nvSpPr>
        <p:spPr>
          <a:xfrm>
            <a:off x="0" y="552450"/>
            <a:ext cx="9144000" cy="381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E5CE754-428B-7913-5F68-F1CE63743FF5}"/>
              </a:ext>
            </a:extLst>
          </p:cNvPr>
          <p:cNvSpPr/>
          <p:nvPr/>
        </p:nvSpPr>
        <p:spPr>
          <a:xfrm>
            <a:off x="619125" y="1000125"/>
            <a:ext cx="2000250" cy="781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586A5E-EAC4-2249-DA99-20C34D19DA42}"/>
              </a:ext>
            </a:extLst>
          </p:cNvPr>
          <p:cNvSpPr/>
          <p:nvPr/>
        </p:nvSpPr>
        <p:spPr>
          <a:xfrm>
            <a:off x="619125" y="1000125"/>
            <a:ext cx="66675" cy="781050"/>
          </a:xfrm>
          <a:prstGeom prst="rect">
            <a:avLst/>
          </a:prstGeom>
          <a:solidFill>
            <a:srgbClr val="1F60A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E4C0EB-BCF9-99C4-6BAF-5F65E974E12A}"/>
              </a:ext>
            </a:extLst>
          </p:cNvPr>
          <p:cNvSpPr txBox="1"/>
          <p:nvPr/>
        </p:nvSpPr>
        <p:spPr>
          <a:xfrm>
            <a:off x="790575" y="1104900"/>
            <a:ext cx="173355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200" b="1">
                <a:solidFill>
                  <a:srgbClr val="1F60A2"/>
                </a:solidFill>
                <a:latin typeface="Aptos" panose="020B0004020202020204" pitchFamily="34" charset="0"/>
              </a:rPr>
              <a:t>3,000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0910E8-8744-D621-BE57-8A9867294408}"/>
              </a:ext>
            </a:extLst>
          </p:cNvPr>
          <p:cNvSpPr txBox="1"/>
          <p:nvPr/>
        </p:nvSpPr>
        <p:spPr>
          <a:xfrm>
            <a:off x="790575" y="1466850"/>
            <a:ext cx="173355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000">
                <a:solidFill>
                  <a:srgbClr val="65748B"/>
                </a:solidFill>
                <a:latin typeface="Aptos" panose="020B0004020202020204" pitchFamily="34" charset="0"/>
              </a:rPr>
              <a:t>TF-IDF max_features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A291DE8-DC35-6387-FD64-401406D8BEDF}"/>
              </a:ext>
            </a:extLst>
          </p:cNvPr>
          <p:cNvSpPr/>
          <p:nvPr/>
        </p:nvSpPr>
        <p:spPr>
          <a:xfrm>
            <a:off x="2857500" y="1000125"/>
            <a:ext cx="2476500" cy="781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5F4933-E2B2-C520-B016-A9D910D84F1D}"/>
              </a:ext>
            </a:extLst>
          </p:cNvPr>
          <p:cNvSpPr/>
          <p:nvPr/>
        </p:nvSpPr>
        <p:spPr>
          <a:xfrm>
            <a:off x="2857500" y="1000125"/>
            <a:ext cx="66675" cy="78105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ED2F1B-AA33-A661-C928-73215965B4C4}"/>
              </a:ext>
            </a:extLst>
          </p:cNvPr>
          <p:cNvSpPr txBox="1"/>
          <p:nvPr/>
        </p:nvSpPr>
        <p:spPr>
          <a:xfrm>
            <a:off x="3028950" y="1104900"/>
            <a:ext cx="22098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200" b="1">
                <a:solidFill>
                  <a:srgbClr val="009688"/>
                </a:solidFill>
                <a:latin typeface="Aptos" panose="020B0004020202020204" pitchFamily="34" charset="0"/>
              </a:rPr>
              <a:t>5169 x 3000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D08CF3-4968-8B1C-F1CB-13A63DBE8C72}"/>
              </a:ext>
            </a:extLst>
          </p:cNvPr>
          <p:cNvSpPr txBox="1"/>
          <p:nvPr/>
        </p:nvSpPr>
        <p:spPr>
          <a:xfrm>
            <a:off x="3028950" y="1466850"/>
            <a:ext cx="22098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000">
                <a:solidFill>
                  <a:srgbClr val="65748B"/>
                </a:solidFill>
                <a:latin typeface="Aptos" panose="020B0004020202020204" pitchFamily="34" charset="0"/>
              </a:rPr>
              <a:t>Feature matrix shape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B752E9F-A359-2898-68CA-AC735385ABC3}"/>
              </a:ext>
            </a:extLst>
          </p:cNvPr>
          <p:cNvSpPr/>
          <p:nvPr/>
        </p:nvSpPr>
        <p:spPr>
          <a:xfrm>
            <a:off x="5572125" y="1000125"/>
            <a:ext cx="1619250" cy="781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60BFFF-8ADF-0F64-F28C-2865FDAE2526}"/>
              </a:ext>
            </a:extLst>
          </p:cNvPr>
          <p:cNvSpPr/>
          <p:nvPr/>
        </p:nvSpPr>
        <p:spPr>
          <a:xfrm>
            <a:off x="5572125" y="1000125"/>
            <a:ext cx="66675" cy="781050"/>
          </a:xfrm>
          <a:prstGeom prst="rect">
            <a:avLst/>
          </a:prstGeom>
          <a:solidFill>
            <a:srgbClr val="F5A6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B11089-C43F-7220-2331-5C4475D29E9C}"/>
              </a:ext>
            </a:extLst>
          </p:cNvPr>
          <p:cNvSpPr txBox="1"/>
          <p:nvPr/>
        </p:nvSpPr>
        <p:spPr>
          <a:xfrm>
            <a:off x="5743575" y="1104900"/>
            <a:ext cx="135255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200" b="1">
                <a:solidFill>
                  <a:srgbClr val="F5A623"/>
                </a:solidFill>
                <a:latin typeface="Aptos" panose="020B0004020202020204" pitchFamily="34" charset="0"/>
              </a:rPr>
              <a:t>20%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507308-A77C-60C1-2467-9A0D4FA2C9CD}"/>
              </a:ext>
            </a:extLst>
          </p:cNvPr>
          <p:cNvSpPr txBox="1"/>
          <p:nvPr/>
        </p:nvSpPr>
        <p:spPr>
          <a:xfrm>
            <a:off x="5743575" y="1466850"/>
            <a:ext cx="135255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000">
                <a:solidFill>
                  <a:srgbClr val="65748B"/>
                </a:solidFill>
                <a:latin typeface="Aptos" panose="020B0004020202020204" pitchFamily="34" charset="0"/>
              </a:rPr>
              <a:t>Test size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B1BE0D-33E6-E29B-1AB5-A5DC04CE8EC2}"/>
              </a:ext>
            </a:extLst>
          </p:cNvPr>
          <p:cNvSpPr txBox="1"/>
          <p:nvPr/>
        </p:nvSpPr>
        <p:spPr>
          <a:xfrm>
            <a:off x="876300" y="2333625"/>
            <a:ext cx="7429500" cy="169277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600">
                <a:solidFill>
                  <a:srgbClr val="182030"/>
                </a:solidFill>
                <a:latin typeface="Aptos" panose="020B0004020202020204" pitchFamily="34" charset="0"/>
              </a:rPr>
              <a:t>• TF-IDF Vectorizer converts each cleaned email into numerical feature vectors.</a:t>
            </a:r>
          </a:p>
          <a:p>
            <a:pPr>
              <a:spcAft>
                <a:spcPts val="800"/>
              </a:spcAft>
            </a:pPr>
            <a:r>
              <a:rPr lang="en-IN" sz="1600">
                <a:solidFill>
                  <a:srgbClr val="182030"/>
                </a:solidFill>
                <a:latin typeface="Aptos" panose="020B0004020202020204" pitchFamily="34" charset="0"/>
              </a:rPr>
              <a:t>• X = tfidf.fit_transform(transformed_message).toarray().</a:t>
            </a:r>
          </a:p>
          <a:p>
            <a:pPr>
              <a:spcAft>
                <a:spcPts val="800"/>
              </a:spcAft>
            </a:pPr>
            <a:r>
              <a:rPr lang="en-IN" sz="1600">
                <a:solidFill>
                  <a:srgbClr val="182030"/>
                </a:solidFill>
                <a:latin typeface="Aptos" panose="020B0004020202020204" pitchFamily="34" charset="0"/>
              </a:rPr>
              <a:t>• y stores the encoded labels from the label column.</a:t>
            </a:r>
          </a:p>
          <a:p>
            <a:pPr>
              <a:spcAft>
                <a:spcPts val="800"/>
              </a:spcAft>
            </a:pPr>
            <a:r>
              <a:rPr lang="en-IN" sz="1600">
                <a:solidFill>
                  <a:srgbClr val="182030"/>
                </a:solidFill>
                <a:latin typeface="Aptos" panose="020B0004020202020204" pitchFamily="34" charset="0"/>
              </a:rPr>
              <a:t>• train_test_split uses test_size=0.2 and random_state=42.</a:t>
            </a:r>
          </a:p>
          <a:p>
            <a:pPr>
              <a:spcAft>
                <a:spcPts val="800"/>
              </a:spcAft>
            </a:pPr>
            <a:r>
              <a:rPr lang="en-IN" sz="1600">
                <a:solidFill>
                  <a:srgbClr val="182030"/>
                </a:solidFill>
                <a:latin typeface="Aptos" panose="020B0004020202020204" pitchFamily="34" charset="0"/>
              </a:rPr>
              <a:t>• Evaluation is performed on 1,034 unseen test records.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F11611-2E4C-3615-C49A-51E69212E77C}"/>
              </a:ext>
            </a:extLst>
          </p:cNvPr>
          <p:cNvSpPr txBox="1"/>
          <p:nvPr/>
        </p:nvSpPr>
        <p:spPr>
          <a:xfrm>
            <a:off x="8334375" y="4810125"/>
            <a:ext cx="523875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800">
                <a:solidFill>
                  <a:srgbClr val="65748B"/>
                </a:solidFill>
                <a:latin typeface="Aptos" panose="020B0004020202020204" pitchFamily="34" charset="0"/>
              </a:rPr>
              <a:t>10 / 20</a:t>
            </a:r>
          </a:p>
        </p:txBody>
      </p:sp>
    </p:spTree>
    <p:extLst>
      <p:ext uri="{BB962C8B-B14F-4D97-AF65-F5344CB8AC3E}">
        <p14:creationId xmlns:p14="http://schemas.microsoft.com/office/powerpoint/2010/main" val="3557300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70C9E0-1779-DC43-B7D8-1796DFE4997A}"/>
              </a:ext>
            </a:extLst>
          </p:cNvPr>
          <p:cNvSpPr/>
          <p:nvPr/>
        </p:nvSpPr>
        <p:spPr>
          <a:xfrm>
            <a:off x="0" y="0"/>
            <a:ext cx="9144000" cy="552450"/>
          </a:xfrm>
          <a:prstGeom prst="rect">
            <a:avLst/>
          </a:prstGeom>
          <a:solidFill>
            <a:srgbClr val="102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D5B96D-F8E5-2AD3-DBF3-E9BB0FC4BF48}"/>
              </a:ext>
            </a:extLst>
          </p:cNvPr>
          <p:cNvSpPr txBox="1"/>
          <p:nvPr/>
        </p:nvSpPr>
        <p:spPr>
          <a:xfrm>
            <a:off x="323850" y="114300"/>
            <a:ext cx="619125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000" b="1">
                <a:solidFill>
                  <a:srgbClr val="FFFFFF"/>
                </a:solidFill>
                <a:latin typeface="Aptos" panose="020B0004020202020204" pitchFamily="34" charset="0"/>
              </a:rPr>
              <a:t>Model Building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BDA003-119A-730E-5F4E-7FC523829D87}"/>
              </a:ext>
            </a:extLst>
          </p:cNvPr>
          <p:cNvSpPr txBox="1"/>
          <p:nvPr/>
        </p:nvSpPr>
        <p:spPr>
          <a:xfrm>
            <a:off x="6858000" y="142875"/>
            <a:ext cx="200025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900">
                <a:solidFill>
                  <a:srgbClr val="CCE0F7"/>
                </a:solidFill>
                <a:latin typeface="Aptos" panose="020B0004020202020204" pitchFamily="34" charset="0"/>
              </a:rPr>
              <a:t>Algorithms trained and compared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810ED1-27EE-A30A-8A70-FCF2A3B28882}"/>
              </a:ext>
            </a:extLst>
          </p:cNvPr>
          <p:cNvSpPr/>
          <p:nvPr/>
        </p:nvSpPr>
        <p:spPr>
          <a:xfrm>
            <a:off x="0" y="552450"/>
            <a:ext cx="9144000" cy="381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1BDF231-AF2A-EEBD-DACF-5CFCFF9E922E}"/>
              </a:ext>
            </a:extLst>
          </p:cNvPr>
          <p:cNvSpPr/>
          <p:nvPr/>
        </p:nvSpPr>
        <p:spPr>
          <a:xfrm>
            <a:off x="666750" y="1095375"/>
            <a:ext cx="3429000" cy="952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AC39F4-DB8A-194B-8E61-988827A52183}"/>
              </a:ext>
            </a:extLst>
          </p:cNvPr>
          <p:cNvSpPr/>
          <p:nvPr/>
        </p:nvSpPr>
        <p:spPr>
          <a:xfrm>
            <a:off x="666750" y="1095375"/>
            <a:ext cx="3429000" cy="762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E72283-D085-1298-1915-682ABB9EA9A8}"/>
              </a:ext>
            </a:extLst>
          </p:cNvPr>
          <p:cNvSpPr txBox="1"/>
          <p:nvPr/>
        </p:nvSpPr>
        <p:spPr>
          <a:xfrm>
            <a:off x="876300" y="1343025"/>
            <a:ext cx="295275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600" b="1">
                <a:solidFill>
                  <a:srgbClr val="10264A"/>
                </a:solidFill>
                <a:latin typeface="Aptos" panose="020B0004020202020204" pitchFamily="34" charset="0"/>
              </a:rPr>
              <a:t>Multinomial Naive Bayes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47AF84-A81C-B7FE-AC48-6627E7C5BD1E}"/>
              </a:ext>
            </a:extLst>
          </p:cNvPr>
          <p:cNvSpPr txBox="1"/>
          <p:nvPr/>
        </p:nvSpPr>
        <p:spPr>
          <a:xfrm>
            <a:off x="876300" y="1647825"/>
            <a:ext cx="295275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100">
                <a:solidFill>
                  <a:srgbClr val="65748B"/>
                </a:solidFill>
                <a:latin typeface="Aptos" panose="020B0004020202020204" pitchFamily="34" charset="0"/>
              </a:rPr>
              <a:t>Common baseline for TF-IDF NLP tasks.</a:t>
            </a:r>
            <a:endParaRPr lang="en-IN" sz="1100">
              <a:solidFill>
                <a:srgbClr val="65748B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D8CC4A6-3307-3436-DDDC-65BA605615BA}"/>
              </a:ext>
            </a:extLst>
          </p:cNvPr>
          <p:cNvSpPr/>
          <p:nvPr/>
        </p:nvSpPr>
        <p:spPr>
          <a:xfrm>
            <a:off x="4762500" y="1095375"/>
            <a:ext cx="3429000" cy="952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1B51AB-9675-FDED-0F80-15024905EA8D}"/>
              </a:ext>
            </a:extLst>
          </p:cNvPr>
          <p:cNvSpPr/>
          <p:nvPr/>
        </p:nvSpPr>
        <p:spPr>
          <a:xfrm>
            <a:off x="4762500" y="1095375"/>
            <a:ext cx="3429000" cy="76200"/>
          </a:xfrm>
          <a:prstGeom prst="rect">
            <a:avLst/>
          </a:prstGeom>
          <a:solidFill>
            <a:srgbClr val="1F60A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846EC9-865E-C1D7-56D1-1D415ED7B857}"/>
              </a:ext>
            </a:extLst>
          </p:cNvPr>
          <p:cNvSpPr txBox="1"/>
          <p:nvPr/>
        </p:nvSpPr>
        <p:spPr>
          <a:xfrm>
            <a:off x="4972050" y="1343025"/>
            <a:ext cx="295275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600" b="1">
                <a:solidFill>
                  <a:srgbClr val="10264A"/>
                </a:solidFill>
                <a:latin typeface="Aptos" panose="020B0004020202020204" pitchFamily="34" charset="0"/>
              </a:rPr>
              <a:t>Logistic Regression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F88460-E8BD-924A-0D46-5180EB48D853}"/>
              </a:ext>
            </a:extLst>
          </p:cNvPr>
          <p:cNvSpPr txBox="1"/>
          <p:nvPr/>
        </p:nvSpPr>
        <p:spPr>
          <a:xfrm>
            <a:off x="4972050" y="1647825"/>
            <a:ext cx="295275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100">
                <a:solidFill>
                  <a:srgbClr val="65748B"/>
                </a:solidFill>
                <a:latin typeface="Aptos" panose="020B0004020202020204" pitchFamily="34" charset="0"/>
              </a:rPr>
              <a:t>Linear classifier with max_iter=1000.</a:t>
            </a:r>
            <a:endParaRPr lang="en-IN" sz="1100">
              <a:solidFill>
                <a:srgbClr val="65748B"/>
              </a:solidFill>
              <a:latin typeface="Aptos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3210393-338A-23D6-798C-BEF6722BE6BB}"/>
              </a:ext>
            </a:extLst>
          </p:cNvPr>
          <p:cNvSpPr/>
          <p:nvPr/>
        </p:nvSpPr>
        <p:spPr>
          <a:xfrm>
            <a:off x="666750" y="2476500"/>
            <a:ext cx="3429000" cy="952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B4D6B7-D0D1-F007-4C7F-E5C4404E70CE}"/>
              </a:ext>
            </a:extLst>
          </p:cNvPr>
          <p:cNvSpPr/>
          <p:nvPr/>
        </p:nvSpPr>
        <p:spPr>
          <a:xfrm>
            <a:off x="666750" y="2476500"/>
            <a:ext cx="3429000" cy="76200"/>
          </a:xfrm>
          <a:prstGeom prst="rect">
            <a:avLst/>
          </a:prstGeom>
          <a:solidFill>
            <a:srgbClr val="E55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7EC6D8-15DC-5935-22C2-E281A9604D7E}"/>
              </a:ext>
            </a:extLst>
          </p:cNvPr>
          <p:cNvSpPr txBox="1"/>
          <p:nvPr/>
        </p:nvSpPr>
        <p:spPr>
          <a:xfrm>
            <a:off x="876300" y="2724150"/>
            <a:ext cx="295275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600" b="1">
                <a:solidFill>
                  <a:srgbClr val="10264A"/>
                </a:solidFill>
                <a:latin typeface="Aptos" panose="020B0004020202020204" pitchFamily="34" charset="0"/>
              </a:rPr>
              <a:t>Support Vector Machine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A699C1-01C9-D68A-3AFA-13F33C2FD5B7}"/>
              </a:ext>
            </a:extLst>
          </p:cNvPr>
          <p:cNvSpPr txBox="1"/>
          <p:nvPr/>
        </p:nvSpPr>
        <p:spPr>
          <a:xfrm>
            <a:off x="876300" y="3028950"/>
            <a:ext cx="295275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100">
                <a:solidFill>
                  <a:srgbClr val="65748B"/>
                </a:solidFill>
                <a:latin typeface="Aptos" panose="020B0004020202020204" pitchFamily="34" charset="0"/>
              </a:rPr>
              <a:t>Linear-kernel SVC selected as best model.</a:t>
            </a:r>
            <a:endParaRPr lang="en-IN" sz="1100">
              <a:solidFill>
                <a:srgbClr val="65748B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CC96694-6ACD-F56F-90A7-BBA0A0EE929B}"/>
              </a:ext>
            </a:extLst>
          </p:cNvPr>
          <p:cNvSpPr/>
          <p:nvPr/>
        </p:nvSpPr>
        <p:spPr>
          <a:xfrm>
            <a:off x="4762500" y="2476500"/>
            <a:ext cx="3429000" cy="952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0D5664-0903-036C-6508-2008779556EA}"/>
              </a:ext>
            </a:extLst>
          </p:cNvPr>
          <p:cNvSpPr/>
          <p:nvPr/>
        </p:nvSpPr>
        <p:spPr>
          <a:xfrm>
            <a:off x="4762500" y="2476500"/>
            <a:ext cx="3429000" cy="76200"/>
          </a:xfrm>
          <a:prstGeom prst="rect">
            <a:avLst/>
          </a:prstGeom>
          <a:solidFill>
            <a:srgbClr val="F5A62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F9DCEE-0B6A-1555-CD13-8E7D18AEE1D3}"/>
              </a:ext>
            </a:extLst>
          </p:cNvPr>
          <p:cNvSpPr txBox="1"/>
          <p:nvPr/>
        </p:nvSpPr>
        <p:spPr>
          <a:xfrm>
            <a:off x="4972050" y="2724150"/>
            <a:ext cx="295275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600" b="1">
                <a:solidFill>
                  <a:srgbClr val="10264A"/>
                </a:solidFill>
                <a:latin typeface="Aptos" panose="020B0004020202020204" pitchFamily="34" charset="0"/>
              </a:rPr>
              <a:t>Random Forest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DD172B-4357-C292-2CE5-6E6C54595534}"/>
              </a:ext>
            </a:extLst>
          </p:cNvPr>
          <p:cNvSpPr txBox="1"/>
          <p:nvPr/>
        </p:nvSpPr>
        <p:spPr>
          <a:xfrm>
            <a:off x="4972050" y="3028950"/>
            <a:ext cx="295275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100">
                <a:solidFill>
                  <a:srgbClr val="65748B"/>
                </a:solidFill>
                <a:latin typeface="Aptos" panose="020B0004020202020204" pitchFamily="34" charset="0"/>
              </a:rPr>
              <a:t>Tree ensemble with n_estimators=100.</a:t>
            </a:r>
            <a:endParaRPr lang="en-IN" sz="1100">
              <a:solidFill>
                <a:srgbClr val="65748B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03112F-6FFA-9849-7AA6-D933324AE308}"/>
              </a:ext>
            </a:extLst>
          </p:cNvPr>
          <p:cNvSpPr txBox="1"/>
          <p:nvPr/>
        </p:nvSpPr>
        <p:spPr>
          <a:xfrm>
            <a:off x="1000125" y="4095750"/>
            <a:ext cx="7096125" cy="5129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500" b="1">
                <a:solidFill>
                  <a:srgbClr val="009688"/>
                </a:solidFill>
                <a:latin typeface="Aptos" panose="020B0004020202020204" pitchFamily="34" charset="0"/>
              </a:rPr>
              <a:t>Training approach: fit each model on TF-IDF training vectors, predict on test vectors, then compare metrics.</a:t>
            </a:r>
            <a:endParaRPr lang="en-IN" sz="1500" b="1">
              <a:solidFill>
                <a:srgbClr val="009688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5B413C-3128-F9F4-0AF9-5E11DB1EAE0B}"/>
              </a:ext>
            </a:extLst>
          </p:cNvPr>
          <p:cNvSpPr txBox="1"/>
          <p:nvPr/>
        </p:nvSpPr>
        <p:spPr>
          <a:xfrm>
            <a:off x="8334375" y="4810125"/>
            <a:ext cx="523875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800">
                <a:solidFill>
                  <a:srgbClr val="65748B"/>
                </a:solidFill>
                <a:latin typeface="Aptos" panose="020B0004020202020204" pitchFamily="34" charset="0"/>
              </a:rPr>
              <a:t>11 / 20</a:t>
            </a:r>
          </a:p>
        </p:txBody>
      </p:sp>
    </p:spTree>
    <p:extLst>
      <p:ext uri="{BB962C8B-B14F-4D97-AF65-F5344CB8AC3E}">
        <p14:creationId xmlns:p14="http://schemas.microsoft.com/office/powerpoint/2010/main" val="3009208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D0A997-C35B-37D9-07E7-7E12D73257FA}"/>
              </a:ext>
            </a:extLst>
          </p:cNvPr>
          <p:cNvSpPr/>
          <p:nvPr/>
        </p:nvSpPr>
        <p:spPr>
          <a:xfrm>
            <a:off x="0" y="0"/>
            <a:ext cx="9144000" cy="552450"/>
          </a:xfrm>
          <a:prstGeom prst="rect">
            <a:avLst/>
          </a:prstGeom>
          <a:solidFill>
            <a:srgbClr val="102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961142-2F4A-B133-022C-597755900008}"/>
              </a:ext>
            </a:extLst>
          </p:cNvPr>
          <p:cNvSpPr txBox="1"/>
          <p:nvPr/>
        </p:nvSpPr>
        <p:spPr>
          <a:xfrm>
            <a:off x="323850" y="114300"/>
            <a:ext cx="619125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000" b="1">
                <a:solidFill>
                  <a:srgbClr val="FFFFFF"/>
                </a:solidFill>
                <a:latin typeface="Aptos" panose="020B0004020202020204" pitchFamily="34" charset="0"/>
              </a:rPr>
              <a:t>Model Comparison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DD11F0-29C8-B7DF-0644-4019EF9A5987}"/>
              </a:ext>
            </a:extLst>
          </p:cNvPr>
          <p:cNvSpPr txBox="1"/>
          <p:nvPr/>
        </p:nvSpPr>
        <p:spPr>
          <a:xfrm>
            <a:off x="6858000" y="142875"/>
            <a:ext cx="200025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900">
                <a:solidFill>
                  <a:srgbClr val="CCE0F7"/>
                </a:solidFill>
                <a:latin typeface="Aptos" panose="020B0004020202020204" pitchFamily="34" charset="0"/>
              </a:rPr>
              <a:t>Accuracy on test set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E869C6-6BF3-B322-4114-09EC8C95BA26}"/>
              </a:ext>
            </a:extLst>
          </p:cNvPr>
          <p:cNvSpPr/>
          <p:nvPr/>
        </p:nvSpPr>
        <p:spPr>
          <a:xfrm>
            <a:off x="0" y="552450"/>
            <a:ext cx="9144000" cy="381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59DEC9-FB2D-2A41-7D68-A764CFA72BB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941286"/>
            <a:ext cx="4572000" cy="295612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4F33C4E-D71D-4A24-2FAA-0FA66DE08BE3}"/>
              </a:ext>
            </a:extLst>
          </p:cNvPr>
          <p:cNvSpPr/>
          <p:nvPr/>
        </p:nvSpPr>
        <p:spPr>
          <a:xfrm>
            <a:off x="5334000" y="1095375"/>
            <a:ext cx="3000375" cy="400050"/>
          </a:xfrm>
          <a:prstGeom prst="rect">
            <a:avLst/>
          </a:prstGeom>
          <a:solidFill>
            <a:srgbClr val="102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164ADC-586A-47E7-197E-C2A872FEB97B}"/>
              </a:ext>
            </a:extLst>
          </p:cNvPr>
          <p:cNvSpPr txBox="1"/>
          <p:nvPr/>
        </p:nvSpPr>
        <p:spPr>
          <a:xfrm>
            <a:off x="5429250" y="1190625"/>
            <a:ext cx="161925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C63D5F-60ED-0ED7-D8A7-0453EC6B79F4}"/>
              </a:ext>
            </a:extLst>
          </p:cNvPr>
          <p:cNvSpPr txBox="1"/>
          <p:nvPr/>
        </p:nvSpPr>
        <p:spPr>
          <a:xfrm>
            <a:off x="7391400" y="1190625"/>
            <a:ext cx="85725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Accuracy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543EDAD-AFAC-5C49-E8F4-B2EEC1093D92}"/>
              </a:ext>
            </a:extLst>
          </p:cNvPr>
          <p:cNvSpPr/>
          <p:nvPr/>
        </p:nvSpPr>
        <p:spPr>
          <a:xfrm>
            <a:off x="5334000" y="1495425"/>
            <a:ext cx="3000375" cy="40005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F4E714-B476-A3FE-45E3-96751BC290F6}"/>
              </a:ext>
            </a:extLst>
          </p:cNvPr>
          <p:cNvSpPr txBox="1"/>
          <p:nvPr/>
        </p:nvSpPr>
        <p:spPr>
          <a:xfrm>
            <a:off x="5429250" y="1600200"/>
            <a:ext cx="17145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 b="1">
                <a:solidFill>
                  <a:srgbClr val="182030"/>
                </a:solidFill>
                <a:latin typeface="Aptos" panose="020B0004020202020204" pitchFamily="34" charset="0"/>
              </a:rPr>
              <a:t>Naive Bayes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798E71-09A1-1191-92E9-F4E1C42FAD05}"/>
              </a:ext>
            </a:extLst>
          </p:cNvPr>
          <p:cNvSpPr txBox="1"/>
          <p:nvPr/>
        </p:nvSpPr>
        <p:spPr>
          <a:xfrm>
            <a:off x="7391400" y="1600200"/>
            <a:ext cx="85725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1100" b="1">
                <a:solidFill>
                  <a:srgbClr val="182030"/>
                </a:solidFill>
                <a:latin typeface="Aptos" panose="020B0004020202020204" pitchFamily="34" charset="0"/>
              </a:rPr>
              <a:t>97.29%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57E23A-E119-0F3E-EDF3-AD7A051D533E}"/>
              </a:ext>
            </a:extLst>
          </p:cNvPr>
          <p:cNvSpPr/>
          <p:nvPr/>
        </p:nvSpPr>
        <p:spPr>
          <a:xfrm>
            <a:off x="5334000" y="1895475"/>
            <a:ext cx="3000375" cy="40005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E7BD8D-ACF6-912B-92F5-76E698ACE287}"/>
              </a:ext>
            </a:extLst>
          </p:cNvPr>
          <p:cNvSpPr txBox="1"/>
          <p:nvPr/>
        </p:nvSpPr>
        <p:spPr>
          <a:xfrm>
            <a:off x="5429250" y="2000250"/>
            <a:ext cx="17145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 b="1">
                <a:solidFill>
                  <a:srgbClr val="182030"/>
                </a:solidFill>
                <a:latin typeface="Aptos" panose="020B0004020202020204" pitchFamily="34" charset="0"/>
              </a:rPr>
              <a:t>Logistic Regression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4614FD-09C7-9B09-2894-27A24EF02274}"/>
              </a:ext>
            </a:extLst>
          </p:cNvPr>
          <p:cNvSpPr txBox="1"/>
          <p:nvPr/>
        </p:nvSpPr>
        <p:spPr>
          <a:xfrm>
            <a:off x="7391400" y="2000250"/>
            <a:ext cx="85725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1100" b="1">
                <a:solidFill>
                  <a:srgbClr val="182030"/>
                </a:solidFill>
                <a:latin typeface="Aptos" panose="020B0004020202020204" pitchFamily="34" charset="0"/>
              </a:rPr>
              <a:t>95.84%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B185FB-2098-F652-F2F9-9829A5DAFB8F}"/>
              </a:ext>
            </a:extLst>
          </p:cNvPr>
          <p:cNvSpPr/>
          <p:nvPr/>
        </p:nvSpPr>
        <p:spPr>
          <a:xfrm>
            <a:off x="5334000" y="2295525"/>
            <a:ext cx="3000375" cy="400050"/>
          </a:xfrm>
          <a:prstGeom prst="rect">
            <a:avLst/>
          </a:prstGeom>
          <a:solidFill>
            <a:srgbClr val="FFEFE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4189B1-DC08-CAFF-D2BA-D00D99B83AEC}"/>
              </a:ext>
            </a:extLst>
          </p:cNvPr>
          <p:cNvSpPr txBox="1"/>
          <p:nvPr/>
        </p:nvSpPr>
        <p:spPr>
          <a:xfrm>
            <a:off x="5429250" y="2400300"/>
            <a:ext cx="17145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 b="1">
                <a:solidFill>
                  <a:srgbClr val="182030"/>
                </a:solidFill>
                <a:latin typeface="Aptos" panose="020B0004020202020204" pitchFamily="34" charset="0"/>
              </a:rPr>
              <a:t>SVM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D8B2BD-65B1-1574-EEC1-0FFFB736CA9E}"/>
              </a:ext>
            </a:extLst>
          </p:cNvPr>
          <p:cNvSpPr txBox="1"/>
          <p:nvPr/>
        </p:nvSpPr>
        <p:spPr>
          <a:xfrm>
            <a:off x="7391400" y="2400300"/>
            <a:ext cx="85725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1100" b="1">
                <a:solidFill>
                  <a:srgbClr val="E55750"/>
                </a:solidFill>
                <a:latin typeface="Aptos" panose="020B0004020202020204" pitchFamily="34" charset="0"/>
              </a:rPr>
              <a:t>98.26%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720111-1FAE-06D6-54F5-BECB4E86A134}"/>
              </a:ext>
            </a:extLst>
          </p:cNvPr>
          <p:cNvSpPr/>
          <p:nvPr/>
        </p:nvSpPr>
        <p:spPr>
          <a:xfrm>
            <a:off x="5334000" y="2695575"/>
            <a:ext cx="3000375" cy="40005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C589A0-A2BB-A808-69B9-3D03DF4F42B4}"/>
              </a:ext>
            </a:extLst>
          </p:cNvPr>
          <p:cNvSpPr txBox="1"/>
          <p:nvPr/>
        </p:nvSpPr>
        <p:spPr>
          <a:xfrm>
            <a:off x="5429250" y="2800350"/>
            <a:ext cx="17145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 b="1">
                <a:solidFill>
                  <a:srgbClr val="182030"/>
                </a:solidFill>
                <a:latin typeface="Aptos" panose="020B0004020202020204" pitchFamily="34" charset="0"/>
              </a:rPr>
              <a:t>Random Forest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14E342-9DD4-BC21-C804-7619225CDED6}"/>
              </a:ext>
            </a:extLst>
          </p:cNvPr>
          <p:cNvSpPr txBox="1"/>
          <p:nvPr/>
        </p:nvSpPr>
        <p:spPr>
          <a:xfrm>
            <a:off x="7391400" y="2800350"/>
            <a:ext cx="85725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1100" b="1">
                <a:solidFill>
                  <a:srgbClr val="182030"/>
                </a:solidFill>
                <a:latin typeface="Aptos" panose="020B0004020202020204" pitchFamily="34" charset="0"/>
              </a:rPr>
              <a:t>97.20%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AE5E8A-BB14-7B90-26AB-6330AF28DD38}"/>
              </a:ext>
            </a:extLst>
          </p:cNvPr>
          <p:cNvSpPr txBox="1"/>
          <p:nvPr/>
        </p:nvSpPr>
        <p:spPr>
          <a:xfrm>
            <a:off x="5286375" y="3286125"/>
            <a:ext cx="3095625" cy="5129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500" b="1">
                <a:solidFill>
                  <a:srgbClr val="E55750"/>
                </a:solidFill>
                <a:latin typeface="Aptos" panose="020B0004020202020204" pitchFamily="34" charset="0"/>
              </a:rPr>
              <a:t>Best-performing model: Support Vector Machine (linear kernel)</a:t>
            </a:r>
            <a:endParaRPr lang="en-IN" sz="1500" b="1">
              <a:solidFill>
                <a:srgbClr val="E55750"/>
              </a:solidFill>
              <a:latin typeface="Aptos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14D60A-3440-5783-8926-92B9437CF663}"/>
              </a:ext>
            </a:extLst>
          </p:cNvPr>
          <p:cNvSpPr txBox="1"/>
          <p:nvPr/>
        </p:nvSpPr>
        <p:spPr>
          <a:xfrm>
            <a:off x="8334375" y="4810125"/>
            <a:ext cx="523875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800">
                <a:solidFill>
                  <a:srgbClr val="65748B"/>
                </a:solidFill>
                <a:latin typeface="Aptos" panose="020B0004020202020204" pitchFamily="34" charset="0"/>
              </a:rPr>
              <a:t>12 / 20</a:t>
            </a:r>
          </a:p>
        </p:txBody>
      </p:sp>
    </p:spTree>
    <p:extLst>
      <p:ext uri="{BB962C8B-B14F-4D97-AF65-F5344CB8AC3E}">
        <p14:creationId xmlns:p14="http://schemas.microsoft.com/office/powerpoint/2010/main" val="3869863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E940C1-63CA-49C5-66BE-CA5D30DDE59C}"/>
              </a:ext>
            </a:extLst>
          </p:cNvPr>
          <p:cNvSpPr/>
          <p:nvPr/>
        </p:nvSpPr>
        <p:spPr>
          <a:xfrm>
            <a:off x="0" y="0"/>
            <a:ext cx="9144000" cy="552450"/>
          </a:xfrm>
          <a:prstGeom prst="rect">
            <a:avLst/>
          </a:prstGeom>
          <a:solidFill>
            <a:srgbClr val="102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F7A632-0BC3-0EC8-C1B1-584121D18546}"/>
              </a:ext>
            </a:extLst>
          </p:cNvPr>
          <p:cNvSpPr txBox="1"/>
          <p:nvPr/>
        </p:nvSpPr>
        <p:spPr>
          <a:xfrm>
            <a:off x="323850" y="114300"/>
            <a:ext cx="619125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000" b="1">
                <a:solidFill>
                  <a:srgbClr val="FFFFFF"/>
                </a:solidFill>
                <a:latin typeface="Aptos" panose="020B0004020202020204" pitchFamily="34" charset="0"/>
              </a:rPr>
              <a:t>Model Evaluation Metrics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766A42-136F-670B-AFA9-BC9C3A6285A2}"/>
              </a:ext>
            </a:extLst>
          </p:cNvPr>
          <p:cNvSpPr txBox="1"/>
          <p:nvPr/>
        </p:nvSpPr>
        <p:spPr>
          <a:xfrm>
            <a:off x="6858000" y="142875"/>
            <a:ext cx="200025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900">
                <a:solidFill>
                  <a:srgbClr val="CCE0F7"/>
                </a:solidFill>
                <a:latin typeface="Aptos" panose="020B0004020202020204" pitchFamily="34" charset="0"/>
              </a:rPr>
              <a:t>Classification report summary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D29E02-D1F1-27F7-07AB-D13E9CF8C05B}"/>
              </a:ext>
            </a:extLst>
          </p:cNvPr>
          <p:cNvSpPr/>
          <p:nvPr/>
        </p:nvSpPr>
        <p:spPr>
          <a:xfrm>
            <a:off x="0" y="552450"/>
            <a:ext cx="9144000" cy="381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501075-CA1F-FBA1-C8BE-044CF89E7DC7}"/>
              </a:ext>
            </a:extLst>
          </p:cNvPr>
          <p:cNvSpPr txBox="1"/>
          <p:nvPr/>
        </p:nvSpPr>
        <p:spPr>
          <a:xfrm>
            <a:off x="571500" y="876300"/>
            <a:ext cx="78105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500" b="1">
                <a:solidFill>
                  <a:srgbClr val="182030"/>
                </a:solidFill>
                <a:latin typeface="Aptos" panose="020B0004020202020204" pitchFamily="34" charset="0"/>
              </a:rPr>
              <a:t>Metrics used in notebook: Accuracy, Precision, Recall, F1-score, and Confusion Matrix</a:t>
            </a:r>
            <a:endParaRPr lang="en-IN" sz="1500" b="1">
              <a:solidFill>
                <a:srgbClr val="182030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558FCA-E6B3-9AF4-E135-179C4B67C393}"/>
              </a:ext>
            </a:extLst>
          </p:cNvPr>
          <p:cNvSpPr/>
          <p:nvPr/>
        </p:nvSpPr>
        <p:spPr>
          <a:xfrm>
            <a:off x="495300" y="1352550"/>
            <a:ext cx="8382000" cy="457200"/>
          </a:xfrm>
          <a:prstGeom prst="rect">
            <a:avLst/>
          </a:prstGeom>
          <a:solidFill>
            <a:srgbClr val="102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587050-E6D5-5425-F034-600E2500A154}"/>
              </a:ext>
            </a:extLst>
          </p:cNvPr>
          <p:cNvSpPr txBox="1"/>
          <p:nvPr/>
        </p:nvSpPr>
        <p:spPr>
          <a:xfrm>
            <a:off x="571500" y="1495425"/>
            <a:ext cx="13335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45DDD9-F6DE-EA1B-BC07-72767A4C387D}"/>
              </a:ext>
            </a:extLst>
          </p:cNvPr>
          <p:cNvSpPr txBox="1"/>
          <p:nvPr/>
        </p:nvSpPr>
        <p:spPr>
          <a:xfrm>
            <a:off x="2105025" y="1495425"/>
            <a:ext cx="762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Accuracy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37CE64-E865-B4D9-9354-BE5AA1F0124E}"/>
              </a:ext>
            </a:extLst>
          </p:cNvPr>
          <p:cNvSpPr txBox="1"/>
          <p:nvPr/>
        </p:nvSpPr>
        <p:spPr>
          <a:xfrm>
            <a:off x="3048000" y="1495425"/>
            <a:ext cx="32385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Spam class performance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1C4F0C-49D2-6CAA-6B7F-CBF02243865A}"/>
              </a:ext>
            </a:extLst>
          </p:cNvPr>
          <p:cNvSpPr txBox="1"/>
          <p:nvPr/>
        </p:nvSpPr>
        <p:spPr>
          <a:xfrm>
            <a:off x="6953250" y="1495425"/>
            <a:ext cx="161925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 b="1">
                <a:solidFill>
                  <a:srgbClr val="FFFFFF"/>
                </a:solidFill>
                <a:latin typeface="Aptos" panose="020B0004020202020204" pitchFamily="34" charset="0"/>
              </a:rPr>
              <a:t>Overall note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99C48D-686B-A68A-1821-0C1F38E9B3C0}"/>
              </a:ext>
            </a:extLst>
          </p:cNvPr>
          <p:cNvSpPr/>
          <p:nvPr/>
        </p:nvSpPr>
        <p:spPr>
          <a:xfrm>
            <a:off x="495300" y="1809750"/>
            <a:ext cx="8382000" cy="457200"/>
          </a:xfrm>
          <a:prstGeom prst="rect">
            <a:avLst/>
          </a:prstGeom>
          <a:solidFill>
            <a:srgbClr val="F8FBF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FE6EC6-090F-7D7C-6BDD-28DAB88DB483}"/>
              </a:ext>
            </a:extLst>
          </p:cNvPr>
          <p:cNvSpPr txBox="1"/>
          <p:nvPr/>
        </p:nvSpPr>
        <p:spPr>
          <a:xfrm>
            <a:off x="571500" y="1943100"/>
            <a:ext cx="1381125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 b="1">
                <a:solidFill>
                  <a:srgbClr val="182030"/>
                </a:solidFill>
                <a:latin typeface="Aptos" panose="020B0004020202020204" pitchFamily="34" charset="0"/>
              </a:rPr>
              <a:t>Naive Bayes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E203BF-5AE9-BEF0-30C7-831B02C492EF}"/>
              </a:ext>
            </a:extLst>
          </p:cNvPr>
          <p:cNvSpPr txBox="1"/>
          <p:nvPr/>
        </p:nvSpPr>
        <p:spPr>
          <a:xfrm>
            <a:off x="2105025" y="1943100"/>
            <a:ext cx="762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1100" b="1">
                <a:solidFill>
                  <a:srgbClr val="182030"/>
                </a:solidFill>
                <a:latin typeface="Aptos" panose="020B0004020202020204" pitchFamily="34" charset="0"/>
              </a:rPr>
              <a:t>0.97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3B3734-9E39-C1AD-D9CF-5558CA43C991}"/>
              </a:ext>
            </a:extLst>
          </p:cNvPr>
          <p:cNvSpPr txBox="1"/>
          <p:nvPr/>
        </p:nvSpPr>
        <p:spPr>
          <a:xfrm>
            <a:off x="3048000" y="1943100"/>
            <a:ext cx="36195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pt-BR" sz="1100">
                <a:solidFill>
                  <a:srgbClr val="182030"/>
                </a:solidFill>
                <a:latin typeface="Aptos" panose="020B0004020202020204" pitchFamily="34" charset="0"/>
              </a:rPr>
              <a:t>Spam: P 0.99 | R 0.81 | F1 0.89</a:t>
            </a:r>
            <a:endParaRPr lang="en-IN" sz="1100">
              <a:solidFill>
                <a:srgbClr val="182030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FC0B12-6CE6-A12E-5403-45B3848A9DD6}"/>
              </a:ext>
            </a:extLst>
          </p:cNvPr>
          <p:cNvSpPr txBox="1"/>
          <p:nvPr/>
        </p:nvSpPr>
        <p:spPr>
          <a:xfrm>
            <a:off x="6953250" y="1943100"/>
            <a:ext cx="161925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>
                <a:solidFill>
                  <a:srgbClr val="182030"/>
                </a:solidFill>
                <a:latin typeface="Aptos" panose="020B0004020202020204" pitchFamily="34" charset="0"/>
              </a:rPr>
              <a:t>Weighted F1 0.97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3CA459-DF8F-6596-6C6E-EB583C5A055C}"/>
              </a:ext>
            </a:extLst>
          </p:cNvPr>
          <p:cNvSpPr/>
          <p:nvPr/>
        </p:nvSpPr>
        <p:spPr>
          <a:xfrm>
            <a:off x="495300" y="2266950"/>
            <a:ext cx="8382000" cy="457200"/>
          </a:xfrm>
          <a:prstGeom prst="rect">
            <a:avLst/>
          </a:prstGeom>
          <a:solidFill>
            <a:srgbClr val="F8FBF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B1DEF5-886D-228C-2D08-4B7E6C92B97A}"/>
              </a:ext>
            </a:extLst>
          </p:cNvPr>
          <p:cNvSpPr txBox="1"/>
          <p:nvPr/>
        </p:nvSpPr>
        <p:spPr>
          <a:xfrm>
            <a:off x="571500" y="2400300"/>
            <a:ext cx="1381125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 b="1">
                <a:solidFill>
                  <a:srgbClr val="182030"/>
                </a:solidFill>
                <a:latin typeface="Aptos" panose="020B0004020202020204" pitchFamily="34" charset="0"/>
              </a:rPr>
              <a:t>Logistic Regression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247142-ADAE-5C41-C8CB-DA325E885C3A}"/>
              </a:ext>
            </a:extLst>
          </p:cNvPr>
          <p:cNvSpPr txBox="1"/>
          <p:nvPr/>
        </p:nvSpPr>
        <p:spPr>
          <a:xfrm>
            <a:off x="2105025" y="2400300"/>
            <a:ext cx="762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1100" b="1">
                <a:solidFill>
                  <a:srgbClr val="182030"/>
                </a:solidFill>
                <a:latin typeface="Aptos" panose="020B0004020202020204" pitchFamily="34" charset="0"/>
              </a:rPr>
              <a:t>0.96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6F0A08-EA45-C1CC-787F-C413D0BA7630}"/>
              </a:ext>
            </a:extLst>
          </p:cNvPr>
          <p:cNvSpPr txBox="1"/>
          <p:nvPr/>
        </p:nvSpPr>
        <p:spPr>
          <a:xfrm>
            <a:off x="3048000" y="2400300"/>
            <a:ext cx="36195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pt-BR" sz="1100">
                <a:solidFill>
                  <a:srgbClr val="182030"/>
                </a:solidFill>
                <a:latin typeface="Aptos" panose="020B0004020202020204" pitchFamily="34" charset="0"/>
              </a:rPr>
              <a:t>Spam: P 0.95 | R 0.74 | F1 0.83</a:t>
            </a:r>
            <a:endParaRPr lang="en-IN" sz="1100">
              <a:solidFill>
                <a:srgbClr val="182030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3630AC-1102-E617-CCCB-DC702B8C7F05}"/>
              </a:ext>
            </a:extLst>
          </p:cNvPr>
          <p:cNvSpPr txBox="1"/>
          <p:nvPr/>
        </p:nvSpPr>
        <p:spPr>
          <a:xfrm>
            <a:off x="6953250" y="2400300"/>
            <a:ext cx="161925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>
                <a:solidFill>
                  <a:srgbClr val="182030"/>
                </a:solidFill>
                <a:latin typeface="Aptos" panose="020B0004020202020204" pitchFamily="34" charset="0"/>
              </a:rPr>
              <a:t>Weighted F1 0.96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11B1E1-B8F6-91D4-2A71-C250650BD177}"/>
              </a:ext>
            </a:extLst>
          </p:cNvPr>
          <p:cNvSpPr/>
          <p:nvPr/>
        </p:nvSpPr>
        <p:spPr>
          <a:xfrm>
            <a:off x="495300" y="2724150"/>
            <a:ext cx="8382000" cy="457200"/>
          </a:xfrm>
          <a:prstGeom prst="rect">
            <a:avLst/>
          </a:prstGeom>
          <a:solidFill>
            <a:srgbClr val="FFEFE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6A68B6-EB27-C1E6-2C9F-39EEECD1425C}"/>
              </a:ext>
            </a:extLst>
          </p:cNvPr>
          <p:cNvSpPr txBox="1"/>
          <p:nvPr/>
        </p:nvSpPr>
        <p:spPr>
          <a:xfrm>
            <a:off x="571500" y="2857500"/>
            <a:ext cx="1381125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 b="1">
                <a:solidFill>
                  <a:srgbClr val="182030"/>
                </a:solidFill>
                <a:latin typeface="Aptos" panose="020B0004020202020204" pitchFamily="34" charset="0"/>
              </a:rPr>
              <a:t>SVM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7E8717-1944-0C38-8666-307E1CCCB6C7}"/>
              </a:ext>
            </a:extLst>
          </p:cNvPr>
          <p:cNvSpPr txBox="1"/>
          <p:nvPr/>
        </p:nvSpPr>
        <p:spPr>
          <a:xfrm>
            <a:off x="2105025" y="2857500"/>
            <a:ext cx="762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1100" b="1">
                <a:solidFill>
                  <a:srgbClr val="182030"/>
                </a:solidFill>
                <a:latin typeface="Aptos" panose="020B0004020202020204" pitchFamily="34" charset="0"/>
              </a:rPr>
              <a:t>0.98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3AA0CA-5D01-AA07-0188-34D24E55979D}"/>
              </a:ext>
            </a:extLst>
          </p:cNvPr>
          <p:cNvSpPr txBox="1"/>
          <p:nvPr/>
        </p:nvSpPr>
        <p:spPr>
          <a:xfrm>
            <a:off x="3048000" y="2857500"/>
            <a:ext cx="36195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pt-BR" sz="1100">
                <a:solidFill>
                  <a:srgbClr val="182030"/>
                </a:solidFill>
                <a:latin typeface="Aptos" panose="020B0004020202020204" pitchFamily="34" charset="0"/>
              </a:rPr>
              <a:t>Spam: P 0.98 | R 0.89 | F1 0.93</a:t>
            </a:r>
            <a:endParaRPr lang="en-IN" sz="1100">
              <a:solidFill>
                <a:srgbClr val="182030"/>
              </a:solidFill>
              <a:latin typeface="Aptos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DF2B7E-DAFA-05F2-EF17-D9C25448E383}"/>
              </a:ext>
            </a:extLst>
          </p:cNvPr>
          <p:cNvSpPr txBox="1"/>
          <p:nvPr/>
        </p:nvSpPr>
        <p:spPr>
          <a:xfrm>
            <a:off x="6953250" y="2857500"/>
            <a:ext cx="161925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>
                <a:solidFill>
                  <a:srgbClr val="182030"/>
                </a:solidFill>
                <a:latin typeface="Aptos" panose="020B0004020202020204" pitchFamily="34" charset="0"/>
              </a:rPr>
              <a:t>Weighted F1 0.98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A76612-6AEA-62C1-6845-DA45ABE24067}"/>
              </a:ext>
            </a:extLst>
          </p:cNvPr>
          <p:cNvSpPr/>
          <p:nvPr/>
        </p:nvSpPr>
        <p:spPr>
          <a:xfrm>
            <a:off x="495300" y="3181350"/>
            <a:ext cx="8382000" cy="457200"/>
          </a:xfrm>
          <a:prstGeom prst="rect">
            <a:avLst/>
          </a:prstGeom>
          <a:solidFill>
            <a:srgbClr val="F8FBF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3F912D-3B52-CCC0-AB4E-03B11C905AB4}"/>
              </a:ext>
            </a:extLst>
          </p:cNvPr>
          <p:cNvSpPr txBox="1"/>
          <p:nvPr/>
        </p:nvSpPr>
        <p:spPr>
          <a:xfrm>
            <a:off x="571500" y="3314700"/>
            <a:ext cx="1381125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 b="1">
                <a:solidFill>
                  <a:srgbClr val="182030"/>
                </a:solidFill>
                <a:latin typeface="Aptos" panose="020B0004020202020204" pitchFamily="34" charset="0"/>
              </a:rPr>
              <a:t>Random Forest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99F751-2184-3683-804C-0CD5E2517788}"/>
              </a:ext>
            </a:extLst>
          </p:cNvPr>
          <p:cNvSpPr txBox="1"/>
          <p:nvPr/>
        </p:nvSpPr>
        <p:spPr>
          <a:xfrm>
            <a:off x="2105025" y="3314700"/>
            <a:ext cx="7620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1100" b="1">
                <a:solidFill>
                  <a:srgbClr val="182030"/>
                </a:solidFill>
                <a:latin typeface="Aptos" panose="020B0004020202020204" pitchFamily="34" charset="0"/>
              </a:rPr>
              <a:t>0.97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D49A80-E23E-EDDC-C279-98DF96C81286}"/>
              </a:ext>
            </a:extLst>
          </p:cNvPr>
          <p:cNvSpPr txBox="1"/>
          <p:nvPr/>
        </p:nvSpPr>
        <p:spPr>
          <a:xfrm>
            <a:off x="3048000" y="3314700"/>
            <a:ext cx="361950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pt-BR" sz="1100">
                <a:solidFill>
                  <a:srgbClr val="182030"/>
                </a:solidFill>
                <a:latin typeface="Aptos" panose="020B0004020202020204" pitchFamily="34" charset="0"/>
              </a:rPr>
              <a:t>Spam: P 0.98 | R 0.81 | F1 0.89</a:t>
            </a:r>
            <a:endParaRPr lang="en-IN" sz="1100">
              <a:solidFill>
                <a:srgbClr val="182030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5E3F7D-7E9F-C76A-DB0F-06794F1E6623}"/>
              </a:ext>
            </a:extLst>
          </p:cNvPr>
          <p:cNvSpPr txBox="1"/>
          <p:nvPr/>
        </p:nvSpPr>
        <p:spPr>
          <a:xfrm>
            <a:off x="6953250" y="3314700"/>
            <a:ext cx="1619250" cy="2205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100">
                <a:solidFill>
                  <a:srgbClr val="182030"/>
                </a:solidFill>
                <a:latin typeface="Aptos" panose="020B0004020202020204" pitchFamily="34" charset="0"/>
              </a:rPr>
              <a:t>Weighted F1 0.97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CBF524B-5E0B-41DB-83A9-6793FD948447}"/>
              </a:ext>
            </a:extLst>
          </p:cNvPr>
          <p:cNvSpPr txBox="1"/>
          <p:nvPr/>
        </p:nvSpPr>
        <p:spPr>
          <a:xfrm>
            <a:off x="8334375" y="4810125"/>
            <a:ext cx="523875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800">
                <a:solidFill>
                  <a:srgbClr val="65748B"/>
                </a:solidFill>
                <a:latin typeface="Aptos" panose="020B0004020202020204" pitchFamily="34" charset="0"/>
              </a:rPr>
              <a:t>13 / 20</a:t>
            </a:r>
          </a:p>
        </p:txBody>
      </p:sp>
    </p:spTree>
    <p:extLst>
      <p:ext uri="{BB962C8B-B14F-4D97-AF65-F5344CB8AC3E}">
        <p14:creationId xmlns:p14="http://schemas.microsoft.com/office/powerpoint/2010/main" val="1062621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196DF4-EE70-1CFA-A4E5-E66542630A92}"/>
              </a:ext>
            </a:extLst>
          </p:cNvPr>
          <p:cNvSpPr/>
          <p:nvPr/>
        </p:nvSpPr>
        <p:spPr>
          <a:xfrm>
            <a:off x="0" y="0"/>
            <a:ext cx="9144000" cy="552450"/>
          </a:xfrm>
          <a:prstGeom prst="rect">
            <a:avLst/>
          </a:prstGeom>
          <a:solidFill>
            <a:srgbClr val="102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FF5ABA-D529-2473-D064-8442707BA81B}"/>
              </a:ext>
            </a:extLst>
          </p:cNvPr>
          <p:cNvSpPr txBox="1"/>
          <p:nvPr/>
        </p:nvSpPr>
        <p:spPr>
          <a:xfrm>
            <a:off x="323850" y="114300"/>
            <a:ext cx="619125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000" b="1">
                <a:solidFill>
                  <a:srgbClr val="FFFFFF"/>
                </a:solidFill>
                <a:latin typeface="Aptos" panose="020B0004020202020204" pitchFamily="34" charset="0"/>
              </a:rPr>
              <a:t>SVM Confusion Matrix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135772-1D99-19F0-FD2D-91F6BD91964C}"/>
              </a:ext>
            </a:extLst>
          </p:cNvPr>
          <p:cNvSpPr txBox="1"/>
          <p:nvPr/>
        </p:nvSpPr>
        <p:spPr>
          <a:xfrm>
            <a:off x="6858000" y="142875"/>
            <a:ext cx="200025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900">
                <a:solidFill>
                  <a:srgbClr val="CCE0F7"/>
                </a:solidFill>
                <a:latin typeface="Aptos" panose="020B0004020202020204" pitchFamily="34" charset="0"/>
              </a:rPr>
              <a:t>Best model error analysis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FDD415-BBC9-E026-2E2F-BEEA7168AC1C}"/>
              </a:ext>
            </a:extLst>
          </p:cNvPr>
          <p:cNvSpPr/>
          <p:nvPr/>
        </p:nvSpPr>
        <p:spPr>
          <a:xfrm>
            <a:off x="0" y="552450"/>
            <a:ext cx="9144000" cy="381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CAD0C5-754A-255B-A2E9-014FDB0E9F5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976593"/>
            <a:ext cx="3905250" cy="30093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69C245D-EDEF-4BAF-61EC-E33C024E8B08}"/>
              </a:ext>
            </a:extLst>
          </p:cNvPr>
          <p:cNvSpPr txBox="1"/>
          <p:nvPr/>
        </p:nvSpPr>
        <p:spPr>
          <a:xfrm>
            <a:off x="8334375" y="4810125"/>
            <a:ext cx="523875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800">
                <a:solidFill>
                  <a:srgbClr val="65748B"/>
                </a:solidFill>
                <a:latin typeface="Aptos" panose="020B0004020202020204" pitchFamily="34" charset="0"/>
              </a:rPr>
              <a:t>14 / 20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9DFB860-BC1E-1B8C-34A4-7CD779F945B8}"/>
              </a:ext>
            </a:extLst>
          </p:cNvPr>
          <p:cNvSpPr/>
          <p:nvPr/>
        </p:nvSpPr>
        <p:spPr>
          <a:xfrm>
            <a:off x="5003800" y="952500"/>
            <a:ext cx="3238500" cy="3276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31A6CC-8861-1229-55FF-2816B222335E}"/>
              </a:ext>
            </a:extLst>
          </p:cNvPr>
          <p:cNvSpPr txBox="1"/>
          <p:nvPr/>
        </p:nvSpPr>
        <p:spPr>
          <a:xfrm>
            <a:off x="5334000" y="1244600"/>
            <a:ext cx="2667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IN" b="1">
                <a:solidFill>
                  <a:srgbClr val="10264A"/>
                </a:solidFill>
                <a:latin typeface="Aptos" panose="020B0004020202020204" pitchFamily="34" charset="0"/>
              </a:rPr>
              <a:t>Actual Matrix Values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5E546D-0DF0-BA2B-4B19-747CB7717023}"/>
              </a:ext>
            </a:extLst>
          </p:cNvPr>
          <p:cNvSpPr/>
          <p:nvPr/>
        </p:nvSpPr>
        <p:spPr>
          <a:xfrm>
            <a:off x="5334000" y="1714500"/>
            <a:ext cx="2540000" cy="29210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DDA0D9-4938-0AB9-DBC3-1DDED78D7057}"/>
              </a:ext>
            </a:extLst>
          </p:cNvPr>
          <p:cNvSpPr txBox="1"/>
          <p:nvPr/>
        </p:nvSpPr>
        <p:spPr>
          <a:xfrm>
            <a:off x="5422900" y="1752600"/>
            <a:ext cx="1460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IN" sz="1150" b="1">
                <a:solidFill>
                  <a:srgbClr val="182030"/>
                </a:solidFill>
                <a:latin typeface="Aptos" panose="020B0004020202020204" pitchFamily="34" charset="0"/>
              </a:rPr>
              <a:t>True Ham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A7F216-FADC-31B5-981A-8F48F9BA8B8B}"/>
              </a:ext>
            </a:extLst>
          </p:cNvPr>
          <p:cNvSpPr txBox="1"/>
          <p:nvPr/>
        </p:nvSpPr>
        <p:spPr>
          <a:xfrm>
            <a:off x="6959600" y="1752600"/>
            <a:ext cx="76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IN" sz="1150" b="1">
                <a:solidFill>
                  <a:srgbClr val="182030"/>
                </a:solidFill>
                <a:latin typeface="Aptos" panose="020B0004020202020204" pitchFamily="34" charset="0"/>
              </a:rPr>
              <a:t>887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179AC5-10E7-1BE0-2211-CD6DFC0584CB}"/>
              </a:ext>
            </a:extLst>
          </p:cNvPr>
          <p:cNvSpPr/>
          <p:nvPr/>
        </p:nvSpPr>
        <p:spPr>
          <a:xfrm>
            <a:off x="5334000" y="2070100"/>
            <a:ext cx="2540000" cy="292100"/>
          </a:xfrm>
          <a:prstGeom prst="rect">
            <a:avLst/>
          </a:prstGeom>
          <a:solidFill>
            <a:srgbClr val="FFEFE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00BB6F-11E3-6ECE-9B25-D9A43264E10E}"/>
              </a:ext>
            </a:extLst>
          </p:cNvPr>
          <p:cNvSpPr txBox="1"/>
          <p:nvPr/>
        </p:nvSpPr>
        <p:spPr>
          <a:xfrm>
            <a:off x="5422900" y="2108200"/>
            <a:ext cx="1460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IN" sz="1150" b="1">
                <a:solidFill>
                  <a:srgbClr val="182030"/>
                </a:solidFill>
                <a:latin typeface="Aptos" panose="020B0004020202020204" pitchFamily="34" charset="0"/>
              </a:rPr>
              <a:t>False Spam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26A143-A593-BBBF-AEF1-D92407298989}"/>
              </a:ext>
            </a:extLst>
          </p:cNvPr>
          <p:cNvSpPr txBox="1"/>
          <p:nvPr/>
        </p:nvSpPr>
        <p:spPr>
          <a:xfrm>
            <a:off x="6959600" y="2108200"/>
            <a:ext cx="76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IN" sz="1150" b="1">
                <a:solidFill>
                  <a:srgbClr val="182030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4A21B7-9F99-AD10-2A19-F22FD43B97C4}"/>
              </a:ext>
            </a:extLst>
          </p:cNvPr>
          <p:cNvSpPr/>
          <p:nvPr/>
        </p:nvSpPr>
        <p:spPr>
          <a:xfrm>
            <a:off x="5334000" y="2425700"/>
            <a:ext cx="2540000" cy="292100"/>
          </a:xfrm>
          <a:prstGeom prst="rect">
            <a:avLst/>
          </a:prstGeom>
          <a:solidFill>
            <a:srgbClr val="FFEFE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B9606B-C400-1924-DC32-93B5D8D5392B}"/>
              </a:ext>
            </a:extLst>
          </p:cNvPr>
          <p:cNvSpPr txBox="1"/>
          <p:nvPr/>
        </p:nvSpPr>
        <p:spPr>
          <a:xfrm>
            <a:off x="5422900" y="2463800"/>
            <a:ext cx="1460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IN" sz="1150" b="1">
                <a:solidFill>
                  <a:srgbClr val="182030"/>
                </a:solidFill>
                <a:latin typeface="Aptos" panose="020B0004020202020204" pitchFamily="34" charset="0"/>
              </a:rPr>
              <a:t>Missed Spam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80DF3D-727B-95AA-D117-0F58F0A9AFF8}"/>
              </a:ext>
            </a:extLst>
          </p:cNvPr>
          <p:cNvSpPr txBox="1"/>
          <p:nvPr/>
        </p:nvSpPr>
        <p:spPr>
          <a:xfrm>
            <a:off x="6959600" y="2463800"/>
            <a:ext cx="76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IN" sz="1150" b="1">
                <a:solidFill>
                  <a:srgbClr val="182030"/>
                </a:solidFill>
                <a:latin typeface="Aptos" panose="020B0004020202020204" pitchFamily="34" charset="0"/>
              </a:rPr>
              <a:t>16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4790891-F540-194D-6916-7CA17B58F249}"/>
              </a:ext>
            </a:extLst>
          </p:cNvPr>
          <p:cNvSpPr/>
          <p:nvPr/>
        </p:nvSpPr>
        <p:spPr>
          <a:xfrm>
            <a:off x="5334000" y="2781300"/>
            <a:ext cx="2540000" cy="29210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294485-34A8-8C36-B633-DD13F960A8ED}"/>
              </a:ext>
            </a:extLst>
          </p:cNvPr>
          <p:cNvSpPr txBox="1"/>
          <p:nvPr/>
        </p:nvSpPr>
        <p:spPr>
          <a:xfrm>
            <a:off x="5422900" y="2819400"/>
            <a:ext cx="1460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IN" sz="1150" b="1">
                <a:solidFill>
                  <a:srgbClr val="182030"/>
                </a:solidFill>
                <a:latin typeface="Aptos" panose="020B0004020202020204" pitchFamily="34" charset="0"/>
              </a:rPr>
              <a:t>True Spam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B3B1EF-A425-4FA0-015F-FCA23A49817B}"/>
              </a:ext>
            </a:extLst>
          </p:cNvPr>
          <p:cNvSpPr txBox="1"/>
          <p:nvPr/>
        </p:nvSpPr>
        <p:spPr>
          <a:xfrm>
            <a:off x="6959600" y="2819400"/>
            <a:ext cx="76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IN" sz="1150" b="1">
                <a:solidFill>
                  <a:srgbClr val="182030"/>
                </a:solidFill>
                <a:latin typeface="Aptos" panose="020B0004020202020204" pitchFamily="34" charset="0"/>
              </a:rPr>
              <a:t>129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C701B9B-49D1-F96C-86D0-6C8FB473D2A1}"/>
              </a:ext>
            </a:extLst>
          </p:cNvPr>
          <p:cNvSpPr/>
          <p:nvPr/>
        </p:nvSpPr>
        <p:spPr>
          <a:xfrm>
            <a:off x="5334000" y="3136900"/>
            <a:ext cx="2540000" cy="292100"/>
          </a:xfrm>
          <a:prstGeom prst="rect">
            <a:avLst/>
          </a:prstGeom>
          <a:solidFill>
            <a:srgbClr val="F6F9FD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D813FB-6871-EB6E-84FE-EE7DB22874D6}"/>
              </a:ext>
            </a:extLst>
          </p:cNvPr>
          <p:cNvSpPr txBox="1"/>
          <p:nvPr/>
        </p:nvSpPr>
        <p:spPr>
          <a:xfrm>
            <a:off x="5422900" y="3175000"/>
            <a:ext cx="1460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IN" sz="1150" b="1">
                <a:solidFill>
                  <a:srgbClr val="182030"/>
                </a:solidFill>
                <a:latin typeface="Aptos" panose="020B0004020202020204" pitchFamily="34" charset="0"/>
              </a:rPr>
              <a:t>Total Test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D4304D-622C-A72D-F318-14D926E23F2D}"/>
              </a:ext>
            </a:extLst>
          </p:cNvPr>
          <p:cNvSpPr txBox="1"/>
          <p:nvPr/>
        </p:nvSpPr>
        <p:spPr>
          <a:xfrm>
            <a:off x="6959600" y="3175000"/>
            <a:ext cx="762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pPr algn="r"/>
            <a:r>
              <a:rPr lang="en-IN" sz="1150" b="1">
                <a:solidFill>
                  <a:srgbClr val="182030"/>
                </a:solidFill>
                <a:latin typeface="Aptos" panose="020B0004020202020204" pitchFamily="34" charset="0"/>
              </a:rPr>
              <a:t>1,034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17CC4B-9D7E-5F55-88CB-0B6B314D0954}"/>
              </a:ext>
            </a:extLst>
          </p:cNvPr>
          <p:cNvSpPr txBox="1"/>
          <p:nvPr/>
        </p:nvSpPr>
        <p:spPr>
          <a:xfrm>
            <a:off x="5334000" y="3657600"/>
            <a:ext cx="2603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sz="1150" b="1">
                <a:solidFill>
                  <a:srgbClr val="009688"/>
                </a:solidFill>
                <a:latin typeface="Aptos" panose="020B0004020202020204" pitchFamily="34" charset="0"/>
              </a:rPr>
              <a:t>Only 18 total test errors; SVM keeps false positives low and detects most spam messages.</a:t>
            </a:r>
            <a:endParaRPr lang="en-IN" sz="1150" b="1">
              <a:solidFill>
                <a:srgbClr val="009688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775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E49671-2499-A8FF-B504-97A8D558EE21}"/>
              </a:ext>
            </a:extLst>
          </p:cNvPr>
          <p:cNvSpPr/>
          <p:nvPr/>
        </p:nvSpPr>
        <p:spPr>
          <a:xfrm>
            <a:off x="0" y="0"/>
            <a:ext cx="9144000" cy="552450"/>
          </a:xfrm>
          <a:prstGeom prst="rect">
            <a:avLst/>
          </a:prstGeom>
          <a:solidFill>
            <a:srgbClr val="102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E2C6C6-25A5-0962-FB25-477A6511EF56}"/>
              </a:ext>
            </a:extLst>
          </p:cNvPr>
          <p:cNvSpPr txBox="1"/>
          <p:nvPr/>
        </p:nvSpPr>
        <p:spPr>
          <a:xfrm>
            <a:off x="323850" y="114300"/>
            <a:ext cx="619125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000" b="1">
                <a:solidFill>
                  <a:srgbClr val="FFFFFF"/>
                </a:solidFill>
                <a:latin typeface="Aptos" panose="020B0004020202020204" pitchFamily="34" charset="0"/>
              </a:rPr>
              <a:t>Results &amp; Prediction Output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D6755D-6450-198C-0B2E-CD0ECED9AB85}"/>
              </a:ext>
            </a:extLst>
          </p:cNvPr>
          <p:cNvSpPr txBox="1"/>
          <p:nvPr/>
        </p:nvSpPr>
        <p:spPr>
          <a:xfrm>
            <a:off x="6858000" y="142875"/>
            <a:ext cx="200025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900">
                <a:solidFill>
                  <a:srgbClr val="CCE0F7"/>
                </a:solidFill>
                <a:latin typeface="Aptos" panose="020B0004020202020204" pitchFamily="34" charset="0"/>
              </a:rPr>
              <a:t>Notebook final output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824C10-DBEC-6443-7574-6090AE4C3C94}"/>
              </a:ext>
            </a:extLst>
          </p:cNvPr>
          <p:cNvSpPr/>
          <p:nvPr/>
        </p:nvSpPr>
        <p:spPr>
          <a:xfrm>
            <a:off x="0" y="552450"/>
            <a:ext cx="9144000" cy="381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3760942-BE8A-FC5C-6FFF-04726C467556}"/>
              </a:ext>
            </a:extLst>
          </p:cNvPr>
          <p:cNvSpPr/>
          <p:nvPr/>
        </p:nvSpPr>
        <p:spPr>
          <a:xfrm>
            <a:off x="666750" y="1000125"/>
            <a:ext cx="1809750" cy="781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40222E-8A52-A64F-D6FA-B0C76C2762EA}"/>
              </a:ext>
            </a:extLst>
          </p:cNvPr>
          <p:cNvSpPr/>
          <p:nvPr/>
        </p:nvSpPr>
        <p:spPr>
          <a:xfrm>
            <a:off x="666750" y="1000125"/>
            <a:ext cx="66675" cy="781050"/>
          </a:xfrm>
          <a:prstGeom prst="rect">
            <a:avLst/>
          </a:prstGeom>
          <a:solidFill>
            <a:srgbClr val="E557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CB15B0-83A7-7B90-68C8-D466EB8DDC20}"/>
              </a:ext>
            </a:extLst>
          </p:cNvPr>
          <p:cNvSpPr txBox="1"/>
          <p:nvPr/>
        </p:nvSpPr>
        <p:spPr>
          <a:xfrm>
            <a:off x="838200" y="1104900"/>
            <a:ext cx="154305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200" b="1">
                <a:solidFill>
                  <a:srgbClr val="E55750"/>
                </a:solidFill>
                <a:latin typeface="Aptos" panose="020B0004020202020204" pitchFamily="34" charset="0"/>
              </a:rPr>
              <a:t>SVM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E35FB3-33FE-757B-FE12-D9A8C51E9EEA}"/>
              </a:ext>
            </a:extLst>
          </p:cNvPr>
          <p:cNvSpPr txBox="1"/>
          <p:nvPr/>
        </p:nvSpPr>
        <p:spPr>
          <a:xfrm>
            <a:off x="838200" y="1466850"/>
            <a:ext cx="154305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000">
                <a:solidFill>
                  <a:srgbClr val="65748B"/>
                </a:solidFill>
                <a:latin typeface="Aptos" panose="020B0004020202020204" pitchFamily="34" charset="0"/>
              </a:rPr>
              <a:t>Selected model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BFE6A90-CBF2-C4F5-2B0F-BA6369CF351C}"/>
              </a:ext>
            </a:extLst>
          </p:cNvPr>
          <p:cNvSpPr/>
          <p:nvPr/>
        </p:nvSpPr>
        <p:spPr>
          <a:xfrm>
            <a:off x="2809875" y="1000125"/>
            <a:ext cx="1952625" cy="781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102C39-B832-2B13-743D-8FAF651A73A4}"/>
              </a:ext>
            </a:extLst>
          </p:cNvPr>
          <p:cNvSpPr/>
          <p:nvPr/>
        </p:nvSpPr>
        <p:spPr>
          <a:xfrm>
            <a:off x="2809875" y="1000125"/>
            <a:ext cx="66675" cy="781050"/>
          </a:xfrm>
          <a:prstGeom prst="rect">
            <a:avLst/>
          </a:prstGeom>
          <a:solidFill>
            <a:srgbClr val="1F60A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7D18A5-A092-352C-3CC9-A097C8580B2F}"/>
              </a:ext>
            </a:extLst>
          </p:cNvPr>
          <p:cNvSpPr txBox="1"/>
          <p:nvPr/>
        </p:nvSpPr>
        <p:spPr>
          <a:xfrm>
            <a:off x="2981325" y="1104900"/>
            <a:ext cx="1685925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200" b="1">
                <a:solidFill>
                  <a:srgbClr val="1F60A2"/>
                </a:solidFill>
                <a:latin typeface="Aptos" panose="020B0004020202020204" pitchFamily="34" charset="0"/>
              </a:rPr>
              <a:t>TF-IDF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BCE2AA-E602-C18E-D1FD-9D37F5A2F4EC}"/>
              </a:ext>
            </a:extLst>
          </p:cNvPr>
          <p:cNvSpPr txBox="1"/>
          <p:nvPr/>
        </p:nvSpPr>
        <p:spPr>
          <a:xfrm>
            <a:off x="2981325" y="1466850"/>
            <a:ext cx="1685925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000">
                <a:solidFill>
                  <a:srgbClr val="65748B"/>
                </a:solidFill>
                <a:latin typeface="Aptos" panose="020B0004020202020204" pitchFamily="34" charset="0"/>
              </a:rPr>
              <a:t>Saved vectorizer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13D27D0-4EDC-815E-3E28-1B1524C6A549}"/>
              </a:ext>
            </a:extLst>
          </p:cNvPr>
          <p:cNvSpPr/>
          <p:nvPr/>
        </p:nvSpPr>
        <p:spPr>
          <a:xfrm>
            <a:off x="5095875" y="1000125"/>
            <a:ext cx="2476500" cy="781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F62296-79BF-0E53-10A8-98DF17ABE33D}"/>
              </a:ext>
            </a:extLst>
          </p:cNvPr>
          <p:cNvSpPr/>
          <p:nvPr/>
        </p:nvSpPr>
        <p:spPr>
          <a:xfrm>
            <a:off x="5095875" y="1000125"/>
            <a:ext cx="66675" cy="78105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EB9EC5-33C4-83C8-333E-D6312B99D622}"/>
              </a:ext>
            </a:extLst>
          </p:cNvPr>
          <p:cNvSpPr txBox="1"/>
          <p:nvPr/>
        </p:nvSpPr>
        <p:spPr>
          <a:xfrm>
            <a:off x="5267325" y="1104900"/>
            <a:ext cx="2209800" cy="38985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200" b="1">
                <a:solidFill>
                  <a:srgbClr val="009688"/>
                </a:solidFill>
                <a:latin typeface="Aptos" panose="020B0004020202020204" pitchFamily="34" charset="0"/>
              </a:rPr>
              <a:t>[1] Spam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3C819E-786C-2601-8C38-2AAD55708DA2}"/>
              </a:ext>
            </a:extLst>
          </p:cNvPr>
          <p:cNvSpPr txBox="1"/>
          <p:nvPr/>
        </p:nvSpPr>
        <p:spPr>
          <a:xfrm>
            <a:off x="5267325" y="1466850"/>
            <a:ext cx="2209800" cy="20518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000">
                <a:solidFill>
                  <a:srgbClr val="65748B"/>
                </a:solidFill>
                <a:latin typeface="Aptos" panose="020B0004020202020204" pitchFamily="34" charset="0"/>
              </a:rPr>
              <a:t>Prediction example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54E717-CDB6-712F-828A-8EA2811A91FF}"/>
              </a:ext>
            </a:extLst>
          </p:cNvPr>
          <p:cNvSpPr txBox="1"/>
          <p:nvPr/>
        </p:nvSpPr>
        <p:spPr>
          <a:xfrm>
            <a:off x="857250" y="2333625"/>
            <a:ext cx="7239000" cy="159017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600">
                <a:solidFill>
                  <a:srgbClr val="182030"/>
                </a:solidFill>
                <a:latin typeface="Aptos" panose="020B0004020202020204" pitchFamily="34" charset="0"/>
              </a:rPr>
              <a:t>• All trained models were serialized with Pickle.</a:t>
            </a:r>
          </a:p>
          <a:p>
            <a:pPr>
              <a:spcAft>
                <a:spcPts val="800"/>
              </a:spcAft>
            </a:pPr>
            <a:r>
              <a:rPr lang="en-IN" sz="1600">
                <a:solidFill>
                  <a:srgbClr val="182030"/>
                </a:solidFill>
                <a:latin typeface="Aptos" panose="020B0004020202020204" pitchFamily="34" charset="0"/>
              </a:rPr>
              <a:t>• Saved files: vectorizer.pkl, naive_bayes_model.pkl, logistic_regression_model.pkl, svm_model.pkl, random_forest_model.pkl.</a:t>
            </a:r>
          </a:p>
          <a:p>
            <a:pPr>
              <a:spcAft>
                <a:spcPts val="800"/>
              </a:spcAft>
            </a:pPr>
            <a:r>
              <a:rPr lang="en-IN" sz="1600">
                <a:solidFill>
                  <a:srgbClr val="182030"/>
                </a:solidFill>
                <a:latin typeface="Aptos" panose="020B0004020202020204" pitchFamily="34" charset="0"/>
              </a:rPr>
              <a:t>• Final sample input: "URGENT! You have won a FREE lottery claim now".</a:t>
            </a:r>
          </a:p>
          <a:p>
            <a:pPr>
              <a:spcAft>
                <a:spcPts val="800"/>
              </a:spcAft>
            </a:pPr>
            <a:r>
              <a:rPr lang="en-IN" sz="1600">
                <a:solidFill>
                  <a:srgbClr val="182030"/>
                </a:solidFill>
                <a:latin typeface="Aptos" panose="020B0004020202020204" pitchFamily="34" charset="0"/>
              </a:rPr>
              <a:t>• SVM output for the sample: [1], meaning spam.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F34610-C4AB-9C5A-1FCA-FC722C0D870C}"/>
              </a:ext>
            </a:extLst>
          </p:cNvPr>
          <p:cNvSpPr txBox="1"/>
          <p:nvPr/>
        </p:nvSpPr>
        <p:spPr>
          <a:xfrm>
            <a:off x="8334375" y="4810125"/>
            <a:ext cx="523875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800">
                <a:solidFill>
                  <a:srgbClr val="65748B"/>
                </a:solidFill>
                <a:latin typeface="Aptos" panose="020B0004020202020204" pitchFamily="34" charset="0"/>
              </a:rPr>
              <a:t>15 / 20</a:t>
            </a:r>
          </a:p>
        </p:txBody>
      </p:sp>
    </p:spTree>
    <p:extLst>
      <p:ext uri="{BB962C8B-B14F-4D97-AF65-F5344CB8AC3E}">
        <p14:creationId xmlns:p14="http://schemas.microsoft.com/office/powerpoint/2010/main" val="1662816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41FF7D-44FF-CF44-6235-FD42F979C51D}"/>
              </a:ext>
            </a:extLst>
          </p:cNvPr>
          <p:cNvSpPr/>
          <p:nvPr/>
        </p:nvSpPr>
        <p:spPr>
          <a:xfrm>
            <a:off x="0" y="0"/>
            <a:ext cx="9144000" cy="552450"/>
          </a:xfrm>
          <a:prstGeom prst="rect">
            <a:avLst/>
          </a:prstGeom>
          <a:solidFill>
            <a:srgbClr val="102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24F668-5444-87B1-FDE2-74E704ADCD19}"/>
              </a:ext>
            </a:extLst>
          </p:cNvPr>
          <p:cNvSpPr txBox="1"/>
          <p:nvPr/>
        </p:nvSpPr>
        <p:spPr>
          <a:xfrm>
            <a:off x="323850" y="114300"/>
            <a:ext cx="619125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000" b="1">
                <a:solidFill>
                  <a:srgbClr val="FFFFFF"/>
                </a:solidFill>
                <a:latin typeface="Aptos" panose="020B0004020202020204" pitchFamily="34" charset="0"/>
              </a:rPr>
              <a:t>Deployment: Streamlit Application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C60755-9CFC-5604-95B9-9FAEEB12C6AA}"/>
              </a:ext>
            </a:extLst>
          </p:cNvPr>
          <p:cNvSpPr txBox="1"/>
          <p:nvPr/>
        </p:nvSpPr>
        <p:spPr>
          <a:xfrm>
            <a:off x="6858000" y="142875"/>
            <a:ext cx="200025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900">
                <a:solidFill>
                  <a:srgbClr val="CCE0F7"/>
                </a:solidFill>
                <a:latin typeface="Aptos" panose="020B0004020202020204" pitchFamily="34" charset="0"/>
              </a:rPr>
              <a:t>User interface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4B5D34-6DD0-E326-5D40-9D32D9830DB5}"/>
              </a:ext>
            </a:extLst>
          </p:cNvPr>
          <p:cNvSpPr/>
          <p:nvPr/>
        </p:nvSpPr>
        <p:spPr>
          <a:xfrm>
            <a:off x="0" y="552450"/>
            <a:ext cx="9144000" cy="381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922514-145A-2FB9-617C-3920000246C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88074"/>
            <a:ext cx="5334000" cy="284350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4BD3A19-801F-01EE-7AD1-8A76DB1A7BC7}"/>
              </a:ext>
            </a:extLst>
          </p:cNvPr>
          <p:cNvSpPr txBox="1"/>
          <p:nvPr/>
        </p:nvSpPr>
        <p:spPr>
          <a:xfrm>
            <a:off x="8334375" y="4810125"/>
            <a:ext cx="523875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800">
                <a:solidFill>
                  <a:srgbClr val="65748B"/>
                </a:solidFill>
                <a:latin typeface="Aptos" panose="020B0004020202020204" pitchFamily="34" charset="0"/>
              </a:rPr>
              <a:t>16 / 20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56E9A65-34F0-DF08-19D9-9394846C2EF4}"/>
              </a:ext>
            </a:extLst>
          </p:cNvPr>
          <p:cNvSpPr/>
          <p:nvPr/>
        </p:nvSpPr>
        <p:spPr>
          <a:xfrm>
            <a:off x="6197600" y="1143000"/>
            <a:ext cx="2387600" cy="292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4DDC42-7684-E425-77A5-F482B7ED522D}"/>
              </a:ext>
            </a:extLst>
          </p:cNvPr>
          <p:cNvSpPr txBox="1"/>
          <p:nvPr/>
        </p:nvSpPr>
        <p:spPr>
          <a:xfrm>
            <a:off x="6477000" y="1422400"/>
            <a:ext cx="1841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IN" sz="1700" b="1">
                <a:solidFill>
                  <a:srgbClr val="10264A"/>
                </a:solidFill>
                <a:latin typeface="Aptos" panose="020B0004020202020204" pitchFamily="34" charset="0"/>
              </a:rPr>
              <a:t>Application Flow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F13B56-F701-1B1C-7D18-37B22A0DE8D6}"/>
              </a:ext>
            </a:extLst>
          </p:cNvPr>
          <p:cNvSpPr txBox="1"/>
          <p:nvPr/>
        </p:nvSpPr>
        <p:spPr>
          <a:xfrm>
            <a:off x="6477000" y="1930400"/>
            <a:ext cx="1778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US" sz="1250">
                <a:solidFill>
                  <a:srgbClr val="182030"/>
                </a:solidFill>
                <a:latin typeface="Aptos" panose="020B0004020202020204" pitchFamily="34" charset="0"/>
              </a:rPr>
              <a:t>• Enter email text</a:t>
            </a:r>
          </a:p>
          <a:p>
            <a:r>
              <a:rPr lang="en-US" sz="1250">
                <a:solidFill>
                  <a:srgbClr val="182030"/>
                </a:solidFill>
                <a:latin typeface="Aptos" panose="020B0004020202020204" pitchFamily="34" charset="0"/>
              </a:rPr>
              <a:t>• Apply saved TF-IDF vectorizer</a:t>
            </a:r>
          </a:p>
          <a:p>
            <a:r>
              <a:rPr lang="en-US" sz="1250">
                <a:solidFill>
                  <a:srgbClr val="182030"/>
                </a:solidFill>
                <a:latin typeface="Aptos" panose="020B0004020202020204" pitchFamily="34" charset="0"/>
              </a:rPr>
              <a:t>• Predict using trained SVM</a:t>
            </a:r>
          </a:p>
          <a:p>
            <a:r>
              <a:rPr lang="en-US" sz="1250">
                <a:solidFill>
                  <a:srgbClr val="182030"/>
                </a:solidFill>
                <a:latin typeface="Aptos" panose="020B0004020202020204" pitchFamily="34" charset="0"/>
              </a:rPr>
              <a:t>• Display Spam or Ham result</a:t>
            </a:r>
            <a:endParaRPr lang="en-IN" sz="1250">
              <a:solidFill>
                <a:srgbClr val="182030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27306F-E696-AD57-A1E7-17FE02A12178}"/>
              </a:ext>
            </a:extLst>
          </p:cNvPr>
          <p:cNvSpPr txBox="1"/>
          <p:nvPr/>
        </p:nvSpPr>
        <p:spPr>
          <a:xfrm>
            <a:off x="2878873" y="4229101"/>
            <a:ext cx="17780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noAutofit/>
          </a:bodyPr>
          <a:lstStyle/>
          <a:p>
            <a:r>
              <a:rPr lang="en-IN" sz="1050" dirty="0">
                <a:solidFill>
                  <a:srgbClr val="65748B"/>
                </a:solidFill>
                <a:latin typeface="Aptos" panose="020B0004020202020204" pitchFamily="34" charset="0"/>
                <a:hlinkClick r:id="rId4"/>
              </a:rPr>
              <a:t>Open </a:t>
            </a:r>
            <a:r>
              <a:rPr lang="en-IN" sz="1050" dirty="0" err="1">
                <a:solidFill>
                  <a:srgbClr val="65748B"/>
                </a:solidFill>
                <a:latin typeface="Aptos" panose="020B0004020202020204" pitchFamily="34" charset="0"/>
                <a:hlinkClick r:id="rId4"/>
              </a:rPr>
              <a:t>Streamlit</a:t>
            </a:r>
            <a:r>
              <a:rPr lang="en-IN" sz="1050" dirty="0">
                <a:solidFill>
                  <a:srgbClr val="65748B"/>
                </a:solidFill>
                <a:latin typeface="Aptos" panose="020B0004020202020204" pitchFamily="34" charset="0"/>
                <a:hlinkClick r:id="rId4"/>
              </a:rPr>
              <a:t> App</a:t>
            </a:r>
            <a:endParaRPr lang="en-IN" sz="1050" dirty="0">
              <a:solidFill>
                <a:srgbClr val="65748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883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0E8573-21F2-BD6A-F2BF-DB26415FC1D3}"/>
              </a:ext>
            </a:extLst>
          </p:cNvPr>
          <p:cNvSpPr/>
          <p:nvPr/>
        </p:nvSpPr>
        <p:spPr>
          <a:xfrm>
            <a:off x="0" y="0"/>
            <a:ext cx="9144000" cy="552450"/>
          </a:xfrm>
          <a:prstGeom prst="rect">
            <a:avLst/>
          </a:prstGeom>
          <a:solidFill>
            <a:srgbClr val="102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2740C4-BB5E-2CFC-0285-FFFB340FBBC4}"/>
              </a:ext>
            </a:extLst>
          </p:cNvPr>
          <p:cNvSpPr txBox="1"/>
          <p:nvPr/>
        </p:nvSpPr>
        <p:spPr>
          <a:xfrm>
            <a:off x="323850" y="114300"/>
            <a:ext cx="619125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000" b="1">
                <a:solidFill>
                  <a:srgbClr val="FFFFFF"/>
                </a:solidFill>
                <a:latin typeface="Aptos" panose="020B0004020202020204" pitchFamily="34" charset="0"/>
              </a:rPr>
              <a:t>Application Prediction Screens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1B0856-3F4F-B838-D42D-87912C5025E0}"/>
              </a:ext>
            </a:extLst>
          </p:cNvPr>
          <p:cNvSpPr txBox="1"/>
          <p:nvPr/>
        </p:nvSpPr>
        <p:spPr>
          <a:xfrm>
            <a:off x="6858000" y="142875"/>
            <a:ext cx="200025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900">
                <a:solidFill>
                  <a:srgbClr val="CCE0F7"/>
                </a:solidFill>
                <a:latin typeface="Aptos" panose="020B0004020202020204" pitchFamily="34" charset="0"/>
              </a:rPr>
              <a:t>Spam and ham outputs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79A1AC-00F5-0627-781A-13A476E7F631}"/>
              </a:ext>
            </a:extLst>
          </p:cNvPr>
          <p:cNvSpPr/>
          <p:nvPr/>
        </p:nvSpPr>
        <p:spPr>
          <a:xfrm>
            <a:off x="0" y="552450"/>
            <a:ext cx="9144000" cy="381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4E5D78-57F4-1B89-1ADD-7CB4D21CBD1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1331210"/>
            <a:ext cx="3905250" cy="18714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B2E4FC-5244-A2C5-6593-9BE957F0DDF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125" y="1328662"/>
            <a:ext cx="3905250" cy="18765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8426DD-D3B9-A670-D316-82A492B55166}"/>
              </a:ext>
            </a:extLst>
          </p:cNvPr>
          <p:cNvSpPr txBox="1"/>
          <p:nvPr/>
        </p:nvSpPr>
        <p:spPr>
          <a:xfrm>
            <a:off x="1143000" y="3810000"/>
            <a:ext cx="24765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1500" b="1">
                <a:solidFill>
                  <a:srgbClr val="E55750"/>
                </a:solidFill>
                <a:latin typeface="Aptos" panose="020B0004020202020204" pitchFamily="34" charset="0"/>
              </a:rPr>
              <a:t>Spam result screen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F2CE2E-99C2-B960-9E1F-6B02DFC6463E}"/>
              </a:ext>
            </a:extLst>
          </p:cNvPr>
          <p:cNvSpPr txBox="1"/>
          <p:nvPr/>
        </p:nvSpPr>
        <p:spPr>
          <a:xfrm>
            <a:off x="5476875" y="3810000"/>
            <a:ext cx="257175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IN" sz="1500" b="1">
                <a:solidFill>
                  <a:srgbClr val="009688"/>
                </a:solidFill>
                <a:latin typeface="Aptos" panose="020B0004020202020204" pitchFamily="34" charset="0"/>
              </a:rPr>
              <a:t>Non-spam result screen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CB3289-66B2-D0A1-4CED-D5071E0A7B6C}"/>
              </a:ext>
            </a:extLst>
          </p:cNvPr>
          <p:cNvSpPr txBox="1"/>
          <p:nvPr/>
        </p:nvSpPr>
        <p:spPr>
          <a:xfrm>
            <a:off x="857250" y="4333875"/>
            <a:ext cx="7429500" cy="25135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300">
                <a:solidFill>
                  <a:srgbClr val="65748B"/>
                </a:solidFill>
                <a:latin typeface="Aptos" panose="020B0004020202020204" pitchFamily="34" charset="0"/>
              </a:rPr>
              <a:t>These screenshots validate that the deployed app returns both classes using the trained classifier.</a:t>
            </a:r>
            <a:endParaRPr lang="en-IN" sz="1300">
              <a:solidFill>
                <a:srgbClr val="65748B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560E7A-9D5E-FE6F-47D4-054FF30FDF00}"/>
              </a:ext>
            </a:extLst>
          </p:cNvPr>
          <p:cNvSpPr txBox="1"/>
          <p:nvPr/>
        </p:nvSpPr>
        <p:spPr>
          <a:xfrm>
            <a:off x="8334375" y="4810125"/>
            <a:ext cx="523875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800">
                <a:solidFill>
                  <a:srgbClr val="65748B"/>
                </a:solidFill>
                <a:latin typeface="Aptos" panose="020B0004020202020204" pitchFamily="34" charset="0"/>
              </a:rPr>
              <a:t>17 / 20</a:t>
            </a:r>
          </a:p>
        </p:txBody>
      </p:sp>
    </p:spTree>
    <p:extLst>
      <p:ext uri="{BB962C8B-B14F-4D97-AF65-F5344CB8AC3E}">
        <p14:creationId xmlns:p14="http://schemas.microsoft.com/office/powerpoint/2010/main" val="881846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B9923E-71C8-6B0E-F2DF-143BBF0070CA}"/>
              </a:ext>
            </a:extLst>
          </p:cNvPr>
          <p:cNvSpPr/>
          <p:nvPr/>
        </p:nvSpPr>
        <p:spPr>
          <a:xfrm>
            <a:off x="0" y="0"/>
            <a:ext cx="9144000" cy="552450"/>
          </a:xfrm>
          <a:prstGeom prst="rect">
            <a:avLst/>
          </a:prstGeom>
          <a:solidFill>
            <a:srgbClr val="102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860AE2-55F0-5E3D-6762-44EE327C20DD}"/>
              </a:ext>
            </a:extLst>
          </p:cNvPr>
          <p:cNvSpPr txBox="1"/>
          <p:nvPr/>
        </p:nvSpPr>
        <p:spPr>
          <a:xfrm>
            <a:off x="323850" y="114300"/>
            <a:ext cx="619125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000" b="1">
                <a:solidFill>
                  <a:srgbClr val="FFFFFF"/>
                </a:solidFill>
                <a:latin typeface="Aptos" panose="020B0004020202020204" pitchFamily="34" charset="0"/>
              </a:rPr>
              <a:t>Challenges &amp; Future Enhancements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E472F3-F450-6194-C71F-4FEB596579D4}"/>
              </a:ext>
            </a:extLst>
          </p:cNvPr>
          <p:cNvSpPr txBox="1"/>
          <p:nvPr/>
        </p:nvSpPr>
        <p:spPr>
          <a:xfrm>
            <a:off x="6858000" y="142875"/>
            <a:ext cx="200025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900">
                <a:solidFill>
                  <a:srgbClr val="CCE0F7"/>
                </a:solidFill>
                <a:latin typeface="Aptos" panose="020B0004020202020204" pitchFamily="34" charset="0"/>
              </a:rPr>
              <a:t>Project reflection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C6F24F-508E-D67C-F30F-2D984E476CBC}"/>
              </a:ext>
            </a:extLst>
          </p:cNvPr>
          <p:cNvSpPr/>
          <p:nvPr/>
        </p:nvSpPr>
        <p:spPr>
          <a:xfrm>
            <a:off x="0" y="552450"/>
            <a:ext cx="9144000" cy="381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DA8251B-9812-58A6-2A35-AE264990B66F}"/>
              </a:ext>
            </a:extLst>
          </p:cNvPr>
          <p:cNvSpPr/>
          <p:nvPr/>
        </p:nvSpPr>
        <p:spPr>
          <a:xfrm>
            <a:off x="571500" y="1000125"/>
            <a:ext cx="3714750" cy="331142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15D169-87A3-11EF-5999-3060F990F17B}"/>
              </a:ext>
            </a:extLst>
          </p:cNvPr>
          <p:cNvSpPr txBox="1"/>
          <p:nvPr/>
        </p:nvSpPr>
        <p:spPr>
          <a:xfrm>
            <a:off x="838200" y="1238250"/>
            <a:ext cx="2857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b="1">
                <a:solidFill>
                  <a:srgbClr val="10264A"/>
                </a:solidFill>
                <a:latin typeface="Aptos" panose="020B0004020202020204" pitchFamily="34" charset="0"/>
              </a:rPr>
              <a:t>Challenges Faced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9384FC-E55C-4690-FF36-BF22FC73328A}"/>
              </a:ext>
            </a:extLst>
          </p:cNvPr>
          <p:cNvSpPr txBox="1"/>
          <p:nvPr/>
        </p:nvSpPr>
        <p:spPr>
          <a:xfrm>
            <a:off x="838200" y="1695450"/>
            <a:ext cx="2905125" cy="251350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400">
                <a:solidFill>
                  <a:srgbClr val="182030"/>
                </a:solidFill>
                <a:latin typeface="Aptos" panose="020B0004020202020204" pitchFamily="34" charset="0"/>
              </a:rPr>
              <a:t>• Class imbalance: ham messages are much more frequent than spam.</a:t>
            </a:r>
          </a:p>
          <a:p>
            <a:pPr>
              <a:spcAft>
                <a:spcPts val="800"/>
              </a:spcAft>
            </a:pPr>
            <a:r>
              <a:rPr lang="en-IN" sz="1400">
                <a:solidFill>
                  <a:srgbClr val="182030"/>
                </a:solidFill>
                <a:latin typeface="Aptos" panose="020B0004020202020204" pitchFamily="34" charset="0"/>
              </a:rPr>
              <a:t>• Raw email text contains punctuation, stopwords, mixed cases, and noisy patterns.</a:t>
            </a:r>
          </a:p>
          <a:p>
            <a:pPr>
              <a:spcAft>
                <a:spcPts val="800"/>
              </a:spcAft>
            </a:pPr>
            <a:r>
              <a:rPr lang="en-IN" sz="1400">
                <a:solidFill>
                  <a:srgbClr val="182030"/>
                </a:solidFill>
                <a:latin typeface="Aptos" panose="020B0004020202020204" pitchFamily="34" charset="0"/>
              </a:rPr>
              <a:t>• Choosing a model required comparing multiple algorithms using real metrics.</a:t>
            </a:r>
          </a:p>
          <a:p>
            <a:pPr>
              <a:spcAft>
                <a:spcPts val="800"/>
              </a:spcAft>
            </a:pPr>
            <a:r>
              <a:rPr lang="en-IN" sz="1400">
                <a:solidFill>
                  <a:srgbClr val="182030"/>
                </a:solidFill>
                <a:latin typeface="Aptos" panose="020B0004020202020204" pitchFamily="34" charset="0"/>
              </a:rPr>
              <a:t>• Deployment required saving both vectorizer and model consistently.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EBDA8C0-4D47-5282-2B5F-2348326140C6}"/>
              </a:ext>
            </a:extLst>
          </p:cNvPr>
          <p:cNvSpPr/>
          <p:nvPr/>
        </p:nvSpPr>
        <p:spPr>
          <a:xfrm>
            <a:off x="4857750" y="1000124"/>
            <a:ext cx="3714750" cy="337858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D6C21A-C5D4-C04F-7298-3EBF96D50DEA}"/>
              </a:ext>
            </a:extLst>
          </p:cNvPr>
          <p:cNvSpPr txBox="1"/>
          <p:nvPr/>
        </p:nvSpPr>
        <p:spPr>
          <a:xfrm>
            <a:off x="5124450" y="1238250"/>
            <a:ext cx="2857500" cy="328295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b="1">
                <a:solidFill>
                  <a:srgbClr val="10264A"/>
                </a:solidFill>
                <a:latin typeface="Aptos" panose="020B0004020202020204" pitchFamily="34" charset="0"/>
              </a:rPr>
              <a:t>Future Enhancements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5ECA50-6460-7D0B-3EA3-5A33FA8C4810}"/>
              </a:ext>
            </a:extLst>
          </p:cNvPr>
          <p:cNvSpPr txBox="1"/>
          <p:nvPr/>
        </p:nvSpPr>
        <p:spPr>
          <a:xfrm>
            <a:off x="5124450" y="1695450"/>
            <a:ext cx="2905125" cy="261610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400">
                <a:solidFill>
                  <a:srgbClr val="182030"/>
                </a:solidFill>
                <a:latin typeface="Aptos" panose="020B0004020202020204" pitchFamily="34" charset="0"/>
              </a:rPr>
              <a:t>• Add larger and more recent email datasets.</a:t>
            </a:r>
          </a:p>
          <a:p>
            <a:pPr>
              <a:spcAft>
                <a:spcPts val="800"/>
              </a:spcAft>
            </a:pPr>
            <a:r>
              <a:rPr lang="en-US" sz="1400">
                <a:solidFill>
                  <a:srgbClr val="182030"/>
                </a:solidFill>
                <a:latin typeface="Aptos" panose="020B0004020202020204" pitchFamily="34" charset="0"/>
              </a:rPr>
              <a:t>• Use advanced NLP models or embeddings.</a:t>
            </a:r>
          </a:p>
          <a:p>
            <a:pPr>
              <a:spcAft>
                <a:spcPts val="800"/>
              </a:spcAft>
            </a:pPr>
            <a:r>
              <a:rPr lang="en-US" sz="1400">
                <a:solidFill>
                  <a:srgbClr val="182030"/>
                </a:solidFill>
                <a:latin typeface="Aptos" panose="020B0004020202020204" pitchFamily="34" charset="0"/>
              </a:rPr>
              <a:t>• Add spam confidence score and explanation words.</a:t>
            </a:r>
          </a:p>
          <a:p>
            <a:pPr>
              <a:spcAft>
                <a:spcPts val="800"/>
              </a:spcAft>
            </a:pPr>
            <a:r>
              <a:rPr lang="en-US" sz="1400">
                <a:solidFill>
                  <a:srgbClr val="182030"/>
                </a:solidFill>
                <a:latin typeface="Aptos" panose="020B0004020202020204" pitchFamily="34" charset="0"/>
              </a:rPr>
              <a:t>• Improve deployment with logging and feedback.</a:t>
            </a:r>
          </a:p>
          <a:p>
            <a:pPr>
              <a:spcAft>
                <a:spcPts val="800"/>
              </a:spcAft>
            </a:pPr>
            <a:r>
              <a:rPr lang="en-US" sz="1400">
                <a:solidFill>
                  <a:srgbClr val="182030"/>
                </a:solidFill>
                <a:latin typeface="Aptos" panose="020B0004020202020204" pitchFamily="34" charset="0"/>
              </a:rPr>
              <a:t>• Extend to phishing URL and attachment-risk detection.</a:t>
            </a:r>
            <a:endParaRPr lang="en-IN" sz="1400">
              <a:solidFill>
                <a:srgbClr val="182030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BAA3E8-2F50-8C5C-9F51-13B7B5C52BE0}"/>
              </a:ext>
            </a:extLst>
          </p:cNvPr>
          <p:cNvSpPr txBox="1"/>
          <p:nvPr/>
        </p:nvSpPr>
        <p:spPr>
          <a:xfrm>
            <a:off x="8334375" y="4810125"/>
            <a:ext cx="523875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800">
                <a:solidFill>
                  <a:srgbClr val="65748B"/>
                </a:solidFill>
                <a:latin typeface="Aptos" panose="020B0004020202020204" pitchFamily="34" charset="0"/>
              </a:rPr>
              <a:t>18 / 20</a:t>
            </a:r>
          </a:p>
        </p:txBody>
      </p:sp>
    </p:spTree>
    <p:extLst>
      <p:ext uri="{BB962C8B-B14F-4D97-AF65-F5344CB8AC3E}">
        <p14:creationId xmlns:p14="http://schemas.microsoft.com/office/powerpoint/2010/main" val="2925039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B54C2B-180D-5C19-AB9B-35D246BED3B1}"/>
              </a:ext>
            </a:extLst>
          </p:cNvPr>
          <p:cNvSpPr/>
          <p:nvPr/>
        </p:nvSpPr>
        <p:spPr>
          <a:xfrm>
            <a:off x="0" y="0"/>
            <a:ext cx="9144000" cy="552450"/>
          </a:xfrm>
          <a:prstGeom prst="rect">
            <a:avLst/>
          </a:prstGeom>
          <a:solidFill>
            <a:srgbClr val="102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D890A6-BE58-7D28-3EF0-157F5CF52501}"/>
              </a:ext>
            </a:extLst>
          </p:cNvPr>
          <p:cNvSpPr txBox="1"/>
          <p:nvPr/>
        </p:nvSpPr>
        <p:spPr>
          <a:xfrm>
            <a:off x="323850" y="114300"/>
            <a:ext cx="6191250" cy="3590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000" b="1">
                <a:solidFill>
                  <a:srgbClr val="FFFFFF"/>
                </a:solidFill>
                <a:latin typeface="Aptos" panose="020B0004020202020204" pitchFamily="34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3CB972-60FC-042A-464E-802D4E57ED0C}"/>
              </a:ext>
            </a:extLst>
          </p:cNvPr>
          <p:cNvSpPr txBox="1"/>
          <p:nvPr/>
        </p:nvSpPr>
        <p:spPr>
          <a:xfrm>
            <a:off x="6858000" y="142875"/>
            <a:ext cx="2000250" cy="18979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900">
                <a:solidFill>
                  <a:srgbClr val="CCE0F7"/>
                </a:solidFill>
                <a:latin typeface="Aptos" panose="020B0004020202020204" pitchFamily="34" charset="0"/>
              </a:rPr>
              <a:t>Final summary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6308AE-7280-D4A1-77C3-231A24043C26}"/>
              </a:ext>
            </a:extLst>
          </p:cNvPr>
          <p:cNvSpPr/>
          <p:nvPr/>
        </p:nvSpPr>
        <p:spPr>
          <a:xfrm>
            <a:off x="0" y="552450"/>
            <a:ext cx="9144000" cy="381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8AB693-68FA-9285-9DDD-5B8C88323752}"/>
              </a:ext>
            </a:extLst>
          </p:cNvPr>
          <p:cNvSpPr txBox="1"/>
          <p:nvPr/>
        </p:nvSpPr>
        <p:spPr>
          <a:xfrm>
            <a:off x="838200" y="1095375"/>
            <a:ext cx="7239000" cy="3231654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>
                <a:solidFill>
                  <a:srgbClr val="182030"/>
                </a:solidFill>
                <a:latin typeface="Aptos" panose="020B0004020202020204" pitchFamily="34" charset="0"/>
              </a:rPr>
              <a:t>• Built an end-to-end email spam classification system using NLP and machine learning.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82030"/>
                </a:solidFill>
                <a:latin typeface="Aptos" panose="020B0004020202020204" pitchFamily="34" charset="0"/>
              </a:rPr>
              <a:t>• Performed EDA, duplicate removal, label encoding, text preprocessing, TF-IDF feature extraction, model training, evaluation, and deployment.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82030"/>
                </a:solidFill>
                <a:latin typeface="Aptos" panose="020B0004020202020204" pitchFamily="34" charset="0"/>
              </a:rPr>
              <a:t>• Compared Naive Bayes, Logistic Regression, SVM, and Random Forest using actual test metrics.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82030"/>
                </a:solidFill>
                <a:latin typeface="Aptos" panose="020B0004020202020204" pitchFamily="34" charset="0"/>
              </a:rPr>
              <a:t>• Selected SVM as the best model with 98.26% accuracy and spam F1-score of 0.93.</a:t>
            </a:r>
          </a:p>
          <a:p>
            <a:pPr>
              <a:spcAft>
                <a:spcPts val="800"/>
              </a:spcAft>
            </a:pPr>
            <a:r>
              <a:rPr lang="en-US">
                <a:solidFill>
                  <a:srgbClr val="182030"/>
                </a:solidFill>
                <a:latin typeface="Aptos" panose="020B0004020202020204" pitchFamily="34" charset="0"/>
              </a:rPr>
              <a:t>• Deployed the final classifier with Streamlit for real-time email prediction.</a:t>
            </a:r>
            <a:endParaRPr lang="en-IN">
              <a:solidFill>
                <a:srgbClr val="182030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7E3A66D-6046-0234-0F79-3F1083BA0CE6}"/>
              </a:ext>
            </a:extLst>
          </p:cNvPr>
          <p:cNvSpPr/>
          <p:nvPr/>
        </p:nvSpPr>
        <p:spPr>
          <a:xfrm>
            <a:off x="952500" y="4389636"/>
            <a:ext cx="6762750" cy="590550"/>
          </a:xfrm>
          <a:prstGeom prst="roundRect">
            <a:avLst/>
          </a:prstGeom>
          <a:solidFill>
            <a:srgbClr val="EBF7FF"/>
          </a:solidFill>
          <a:ln w="12700">
            <a:solidFill>
              <a:srgbClr val="0096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46335D-AFC9-6B06-E57E-8F76ED69C76B}"/>
              </a:ext>
            </a:extLst>
          </p:cNvPr>
          <p:cNvSpPr txBox="1"/>
          <p:nvPr/>
        </p:nvSpPr>
        <p:spPr>
          <a:xfrm>
            <a:off x="1190625" y="4389636"/>
            <a:ext cx="6286500" cy="512961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ctr"/>
            <a:r>
              <a:rPr lang="en-US" sz="1500" b="1" dirty="0">
                <a:solidFill>
                  <a:srgbClr val="10264A"/>
                </a:solidFill>
                <a:latin typeface="Aptos" panose="020B0004020202020204" pitchFamily="34" charset="0"/>
              </a:rPr>
              <a:t>Key achievement: a practical spam detection workflow from notebook analysis to working web application.</a:t>
            </a:r>
            <a:endParaRPr lang="en-IN" sz="1500" b="1" dirty="0">
              <a:solidFill>
                <a:srgbClr val="10264A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16D2CF-AAC1-BE5C-5AB2-DF5CCE61AA09}"/>
              </a:ext>
            </a:extLst>
          </p:cNvPr>
          <p:cNvSpPr txBox="1"/>
          <p:nvPr/>
        </p:nvSpPr>
        <p:spPr>
          <a:xfrm>
            <a:off x="8334375" y="4810125"/>
            <a:ext cx="523875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800">
                <a:solidFill>
                  <a:srgbClr val="65748B"/>
                </a:solidFill>
                <a:latin typeface="Aptos" panose="020B0004020202020204" pitchFamily="34" charset="0"/>
              </a:rPr>
              <a:t>19 / 20</a:t>
            </a:r>
          </a:p>
        </p:txBody>
      </p:sp>
    </p:spTree>
    <p:extLst>
      <p:ext uri="{BB962C8B-B14F-4D97-AF65-F5344CB8AC3E}">
        <p14:creationId xmlns:p14="http://schemas.microsoft.com/office/powerpoint/2010/main" val="1005050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F787E2-EFF1-1B7D-BC49-2002568AE81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26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1BFAB9-EA4F-90BF-8053-1909A8716D3E}"/>
              </a:ext>
            </a:extLst>
          </p:cNvPr>
          <p:cNvSpPr/>
          <p:nvPr/>
        </p:nvSpPr>
        <p:spPr>
          <a:xfrm>
            <a:off x="0" y="3667125"/>
            <a:ext cx="9144000" cy="1476375"/>
          </a:xfrm>
          <a:prstGeom prst="rect">
            <a:avLst/>
          </a:prstGeom>
          <a:solidFill>
            <a:srgbClr val="F4F8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D51E16-F06F-F53F-7E9E-4DF34A5C8C2F}"/>
              </a:ext>
            </a:extLst>
          </p:cNvPr>
          <p:cNvSpPr/>
          <p:nvPr/>
        </p:nvSpPr>
        <p:spPr>
          <a:xfrm>
            <a:off x="0" y="0"/>
            <a:ext cx="152400" cy="5143500"/>
          </a:xfrm>
          <a:prstGeom prst="rect">
            <a:avLst/>
          </a:prstGeom>
          <a:solidFill>
            <a:srgbClr val="0096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D0233F-5C1F-CFB2-F27A-903747599A38}"/>
              </a:ext>
            </a:extLst>
          </p:cNvPr>
          <p:cNvSpPr txBox="1"/>
          <p:nvPr/>
        </p:nvSpPr>
        <p:spPr>
          <a:xfrm>
            <a:off x="762000" y="1428750"/>
            <a:ext cx="4953000" cy="65146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3900" b="1">
                <a:solidFill>
                  <a:srgbClr val="FFFFFF"/>
                </a:solidFill>
                <a:latin typeface="Aptos" panose="020B0004020202020204" pitchFamily="34" charset="0"/>
              </a:rPr>
              <a:t>Thank You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401C12-3F91-2D78-552B-C5D142BA36D3}"/>
              </a:ext>
            </a:extLst>
          </p:cNvPr>
          <p:cNvSpPr txBox="1"/>
          <p:nvPr/>
        </p:nvSpPr>
        <p:spPr>
          <a:xfrm>
            <a:off x="781050" y="2143125"/>
            <a:ext cx="3429000" cy="451406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2600" b="1">
                <a:solidFill>
                  <a:srgbClr val="CAE8FF"/>
                </a:solidFill>
                <a:latin typeface="Aptos" panose="020B0004020202020204" pitchFamily="34" charset="0"/>
              </a:rPr>
              <a:t>Questions?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D12BA8-44AE-7D0C-8A9E-DBD3F4B9BDF7}"/>
              </a:ext>
            </a:extLst>
          </p:cNvPr>
          <p:cNvSpPr txBox="1"/>
          <p:nvPr/>
        </p:nvSpPr>
        <p:spPr>
          <a:xfrm>
            <a:off x="781050" y="4000500"/>
            <a:ext cx="6191250" cy="29751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sz="1600" b="1">
                <a:solidFill>
                  <a:srgbClr val="10264A"/>
                </a:solidFill>
                <a:latin typeface="Aptos" panose="020B0004020202020204" pitchFamily="34" charset="0"/>
              </a:rPr>
              <a:t>Email Spam Classification Using NLP and Machine Learning</a:t>
            </a:r>
            <a:endParaRPr lang="en-IN" sz="1600" b="1">
              <a:solidFill>
                <a:srgbClr val="10264A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6E4EB7-5DF8-6169-3CDD-BC6F521E86F6}"/>
              </a:ext>
            </a:extLst>
          </p:cNvPr>
          <p:cNvSpPr txBox="1"/>
          <p:nvPr/>
        </p:nvSpPr>
        <p:spPr>
          <a:xfrm>
            <a:off x="781050" y="4333875"/>
            <a:ext cx="619125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IN" sz="1200">
                <a:solidFill>
                  <a:srgbClr val="65748B"/>
                </a:solidFill>
                <a:latin typeface="Aptos" panose="020B0004020202020204" pitchFamily="34" charset="0"/>
              </a:rPr>
              <a:t>Team: Fidal Govind | Arjun S | ANU GOPAL V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AF24A2-DB8C-9897-0E4D-FBD94F23ADDF}"/>
              </a:ext>
            </a:extLst>
          </p:cNvPr>
          <p:cNvSpPr txBox="1"/>
          <p:nvPr/>
        </p:nvSpPr>
        <p:spPr>
          <a:xfrm>
            <a:off x="8334375" y="4810125"/>
            <a:ext cx="523875" cy="174407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pPr algn="r"/>
            <a:r>
              <a:rPr lang="en-IN" sz="800">
                <a:solidFill>
                  <a:srgbClr val="65748B"/>
                </a:solidFill>
                <a:latin typeface="Aptos" panose="020B0004020202020204" pitchFamily="34" charset="0"/>
              </a:rPr>
              <a:t>20 / 20</a:t>
            </a:r>
          </a:p>
        </p:txBody>
      </p:sp>
    </p:spTree>
    <p:extLst>
      <p:ext uri="{BB962C8B-B14F-4D97-AF65-F5344CB8AC3E}">
        <p14:creationId xmlns:p14="http://schemas.microsoft.com/office/powerpoint/2010/main" val="1037468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1795</Words>
  <Application>Microsoft Office PowerPoint</Application>
  <PresentationFormat>On-screen Show (16:9)</PresentationFormat>
  <Paragraphs>300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 GOPAL V</dc:creator>
  <cp:lastModifiedBy>ANU GOPAL V</cp:lastModifiedBy>
  <cp:revision>4</cp:revision>
  <dcterms:created xsi:type="dcterms:W3CDTF">2026-05-15T16:57:17Z</dcterms:created>
  <dcterms:modified xsi:type="dcterms:W3CDTF">2026-05-15T17:49:37Z</dcterms:modified>
</cp:coreProperties>
</file>